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Spline Sans" panose="020B0604020202020204" charset="0"/>
      <p:regular r:id="rId16"/>
    </p:embeddedFont>
    <p:embeddedFont>
      <p:font typeface="Spline Sans Bold" panose="020B0604020202020204" charset="0"/>
      <p:regular r:id="rId17"/>
    </p:embeddedFont>
    <p:embeddedFont>
      <p:font typeface="Spline Sans Light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7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>
        <p:scale>
          <a:sx n="90" d="100"/>
          <a:sy n="90" d="100"/>
        </p:scale>
        <p:origin x="235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6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6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603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8405"/>
            <a:ext cx="6134343" cy="1091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150" kern="100" spc="-143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FakeLens</a:t>
            </a:r>
            <a:endParaRPr lang="en-US" sz="7150" dirty="0"/>
          </a:p>
        </p:txBody>
      </p:sp>
      <p:sp>
        <p:nvSpPr>
          <p:cNvPr id="3" name="Text 1"/>
          <p:cNvSpPr/>
          <p:nvPr/>
        </p:nvSpPr>
        <p:spPr>
          <a:xfrm>
            <a:off x="661475" y="2945209"/>
            <a:ext cx="6134343" cy="65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100" spc="-43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Fake News Detection Using NLP, LSTM, and BERT Transformer Models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1475" y="3765550"/>
            <a:ext cx="6743928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AI-Based Fake News Detection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183063"/>
            <a:ext cx="2262925" cy="251420"/>
          </a:xfrm>
          <a:prstGeom prst="roundRect">
            <a:avLst>
              <a:gd name="adj" fmla="val 47364"/>
            </a:avLst>
          </a:prstGeom>
          <a:solidFill>
            <a:srgbClr val="4D1F00"/>
          </a:solidFill>
          <a:ln/>
        </p:spPr>
      </p:sp>
      <p:sp>
        <p:nvSpPr>
          <p:cNvPr id="6" name="Text 4"/>
          <p:cNvSpPr/>
          <p:nvPr/>
        </p:nvSpPr>
        <p:spPr>
          <a:xfrm>
            <a:off x="760691" y="4232672"/>
            <a:ext cx="267407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NATURAL LANGUAGE PROCESSING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07047" y="4183063"/>
            <a:ext cx="1150611" cy="251420"/>
          </a:xfrm>
          <a:prstGeom prst="roundRect">
            <a:avLst>
              <a:gd name="adj" fmla="val 47364"/>
            </a:avLst>
          </a:prstGeom>
          <a:solidFill>
            <a:srgbClr val="4D1F00"/>
          </a:solidFill>
          <a:ln/>
        </p:spPr>
      </p:sp>
      <p:sp>
        <p:nvSpPr>
          <p:cNvPr id="8" name="Text 6"/>
          <p:cNvSpPr/>
          <p:nvPr/>
        </p:nvSpPr>
        <p:spPr>
          <a:xfrm>
            <a:off x="3106263" y="4232672"/>
            <a:ext cx="156176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40305" y="4183063"/>
            <a:ext cx="523167" cy="251420"/>
          </a:xfrm>
          <a:prstGeom prst="roundRect">
            <a:avLst>
              <a:gd name="adj" fmla="val 47364"/>
            </a:avLst>
          </a:prstGeom>
          <a:solidFill>
            <a:srgbClr val="4D1F00"/>
          </a:solidFill>
          <a:ln/>
        </p:spPr>
      </p:sp>
      <p:sp>
        <p:nvSpPr>
          <p:cNvPr id="10" name="Text 8"/>
          <p:cNvSpPr/>
          <p:nvPr/>
        </p:nvSpPr>
        <p:spPr>
          <a:xfrm>
            <a:off x="4339521" y="4232672"/>
            <a:ext cx="93432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119" y="4183063"/>
            <a:ext cx="503423" cy="251420"/>
          </a:xfrm>
          <a:prstGeom prst="roundRect">
            <a:avLst>
              <a:gd name="adj" fmla="val 47364"/>
            </a:avLst>
          </a:prstGeom>
          <a:solidFill>
            <a:srgbClr val="4D1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45336" y="4232672"/>
            <a:ext cx="91457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BERT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32190" y="4183063"/>
            <a:ext cx="670404" cy="251420"/>
          </a:xfrm>
          <a:prstGeom prst="roundRect">
            <a:avLst>
              <a:gd name="adj" fmla="val 47364"/>
            </a:avLst>
          </a:prstGeom>
          <a:solidFill>
            <a:srgbClr val="4D1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531406" y="4232672"/>
            <a:ext cx="108155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4517132"/>
            <a:ext cx="962894" cy="251420"/>
          </a:xfrm>
          <a:prstGeom prst="roundRect">
            <a:avLst>
              <a:gd name="adj" fmla="val 47364"/>
            </a:avLst>
          </a:prstGeom>
          <a:solidFill>
            <a:srgbClr val="4D1F00"/>
          </a:solidFill>
          <a:ln/>
        </p:spPr>
      </p:sp>
      <p:sp>
        <p:nvSpPr>
          <p:cNvPr id="16" name="Text 14"/>
          <p:cNvSpPr/>
          <p:nvPr/>
        </p:nvSpPr>
        <p:spPr>
          <a:xfrm>
            <a:off x="760691" y="4566741"/>
            <a:ext cx="137404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1475" y="4954588"/>
            <a:ext cx="6743928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i="1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"Intelligent News Analysis Through NLP and Deep Learning"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05581" y="1709142"/>
            <a:ext cx="4330889" cy="1000224"/>
          </a:xfrm>
          <a:prstGeom prst="roundRect">
            <a:avLst>
              <a:gd name="adj" fmla="val 14882"/>
            </a:avLst>
          </a:prstGeom>
          <a:solidFill>
            <a:srgbClr val="D65A1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70876" y="1874441"/>
            <a:ext cx="4000301" cy="272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kern="100" spc="-36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News Input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370876" y="2312591"/>
            <a:ext cx="4000301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Article text submitted for verification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05581" y="2874665"/>
            <a:ext cx="4330889" cy="1000224"/>
          </a:xfrm>
          <a:prstGeom prst="roundRect">
            <a:avLst>
              <a:gd name="adj" fmla="val 14882"/>
            </a:avLst>
          </a:prstGeom>
          <a:solidFill>
            <a:srgbClr val="5A2309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70876" y="3039963"/>
            <a:ext cx="4000301" cy="272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kern="100" spc="-36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AI Analysis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370876" y="3478113"/>
            <a:ext cx="4000301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NLP + LSTM / BERT model inference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05581" y="4040188"/>
            <a:ext cx="4330889" cy="1000224"/>
          </a:xfrm>
          <a:prstGeom prst="roundRect">
            <a:avLst>
              <a:gd name="adj" fmla="val 14882"/>
            </a:avLst>
          </a:prstGeom>
          <a:solidFill>
            <a:srgbClr val="D65A1F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70876" y="4205486"/>
            <a:ext cx="4000301" cy="272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kern="100" spc="-36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Classification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370876" y="4643636"/>
            <a:ext cx="4000301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Real or Fake — with confidence score</a:t>
            </a:r>
            <a:endParaRPr lang="en-US" sz="13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E458B1-5BCD-268C-CA90-B304A1F1106D}"/>
              </a:ext>
            </a:extLst>
          </p:cNvPr>
          <p:cNvSpPr/>
          <p:nvPr/>
        </p:nvSpPr>
        <p:spPr>
          <a:xfrm>
            <a:off x="11077074" y="6537158"/>
            <a:ext cx="1114926" cy="320842"/>
          </a:xfrm>
          <a:prstGeom prst="rect">
            <a:avLst/>
          </a:prstGeom>
          <a:solidFill>
            <a:srgbClr val="0C0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3451"/>
            <a:ext cx="923604" cy="145355"/>
          </a:xfrm>
          <a:prstGeom prst="roundRect">
            <a:avLst>
              <a:gd name="adj" fmla="val 47427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921" y="492125"/>
            <a:ext cx="1418297" cy="8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PROBLEM &amp; OBJECTIVE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630932"/>
            <a:ext cx="10868745" cy="315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50" kern="100" spc="-41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The Problem: Detecting Fake News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61475" y="1085255"/>
            <a:ext cx="5317595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-21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The Challenge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391" y="1300708"/>
            <a:ext cx="143566" cy="1435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2617" y="1305520"/>
            <a:ext cx="5006453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Rapid spread</a:t>
            </a: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— Misinformation propagates instantly across social media, websites, and messaging platforms.</a:t>
            </a:r>
            <a:endParaRPr lang="en-US" sz="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391" y="1693912"/>
            <a:ext cx="143566" cy="1435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2617" y="1698724"/>
            <a:ext cx="5006453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Societal impact</a:t>
            </a: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— Misleading content shapes public opinion and causes economic and social harm.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391" y="2087116"/>
            <a:ext cx="143566" cy="1435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2617" y="2091928"/>
            <a:ext cx="5006453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Manual bottleneck</a:t>
            </a: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— Human fact-checking is slow, inconsistent, and unscalable.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391" y="2480320"/>
            <a:ext cx="143566" cy="1435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2617" y="2485132"/>
            <a:ext cx="5006453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Content diversity</a:t>
            </a: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— News varies in language, writing style, tone, and structure.</a:t>
            </a:r>
            <a:endParaRPr lang="en-US" sz="750" dirty="0"/>
          </a:p>
        </p:txBody>
      </p:sp>
      <p:sp>
        <p:nvSpPr>
          <p:cNvPr id="14" name="Shape 8"/>
          <p:cNvSpPr/>
          <p:nvPr/>
        </p:nvSpPr>
        <p:spPr>
          <a:xfrm>
            <a:off x="6150020" y="1029891"/>
            <a:ext cx="5455506" cy="1858268"/>
          </a:xfrm>
          <a:prstGeom prst="roundRect">
            <a:avLst>
              <a:gd name="adj" fmla="val 7420"/>
            </a:avLst>
          </a:prstGeom>
          <a:solidFill>
            <a:srgbClr val="1A0C05">
              <a:alpha val="95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6245763" y="1085255"/>
            <a:ext cx="5264018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-21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System Objectives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245763" y="1305520"/>
            <a:ext cx="215399" cy="215404"/>
          </a:xfrm>
          <a:prstGeom prst="roundRect">
            <a:avLst>
              <a:gd name="adj" fmla="val 40006"/>
            </a:avLst>
          </a:prstGeom>
          <a:solidFill>
            <a:srgbClr val="D65A1F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74437" y="1318419"/>
            <a:ext cx="157952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kern="100" spc="-25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516524" y="1346200"/>
            <a:ext cx="4993257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Analyze news text automatically using NLP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6245763" y="1631752"/>
            <a:ext cx="215399" cy="215404"/>
          </a:xfrm>
          <a:prstGeom prst="roundRect">
            <a:avLst>
              <a:gd name="adj" fmla="val 40006"/>
            </a:avLst>
          </a:prstGeom>
          <a:solidFill>
            <a:srgbClr val="5A2309">
              <a:alpha val="5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274437" y="1644650"/>
            <a:ext cx="157952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kern="100" spc="-25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516524" y="1672431"/>
            <a:ext cx="4993257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Classify content as </a:t>
            </a:r>
            <a:r>
              <a:rPr lang="en-US" sz="75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</a:t>
            </a: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or </a:t>
            </a:r>
            <a:r>
              <a:rPr lang="en-US" sz="75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Fake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6245763" y="1957983"/>
            <a:ext cx="215399" cy="215404"/>
          </a:xfrm>
          <a:prstGeom prst="roundRect">
            <a:avLst>
              <a:gd name="adj" fmla="val 40006"/>
            </a:avLst>
          </a:prstGeom>
          <a:solidFill>
            <a:srgbClr val="1A0C05">
              <a:alpha val="5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274437" y="1970881"/>
            <a:ext cx="157952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kern="100" spc="-25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516524" y="1998663"/>
            <a:ext cx="4993257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Handle diverse and multilingual news data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245763" y="2284214"/>
            <a:ext cx="215399" cy="215404"/>
          </a:xfrm>
          <a:prstGeom prst="roundRect">
            <a:avLst>
              <a:gd name="adj" fmla="val 40006"/>
            </a:avLst>
          </a:prstGeom>
          <a:solidFill>
            <a:srgbClr val="0B0603">
              <a:alpha val="5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274437" y="2297113"/>
            <a:ext cx="157952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kern="100" spc="-25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516524" y="2324894"/>
            <a:ext cx="4993257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Provide confidence-based predictions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6245763" y="2610445"/>
            <a:ext cx="215399" cy="215404"/>
          </a:xfrm>
          <a:prstGeom prst="roundRect">
            <a:avLst>
              <a:gd name="adj" fmla="val 40006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274437" y="2623344"/>
            <a:ext cx="157952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kern="100" spc="-25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516524" y="2651125"/>
            <a:ext cx="4993257" cy="10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Offer a simple web interface for users</a:t>
            </a:r>
            <a:endParaRPr lang="en-US" sz="7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441" y="2950468"/>
            <a:ext cx="6302713" cy="344408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75596" y="4558705"/>
            <a:ext cx="1460364" cy="209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kern="100" spc="-28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News Input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7463265" y="4536297"/>
            <a:ext cx="1460363" cy="20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kern="100" spc="-28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NLP Processing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5661817" y="4543472"/>
            <a:ext cx="1460363" cy="209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kern="100" spc="-28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AI Classification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2402"/>
            <a:ext cx="1423952" cy="238820"/>
          </a:xfrm>
          <a:prstGeom prst="roundRect">
            <a:avLst>
              <a:gd name="adj" fmla="val 47369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5730" y="529530"/>
            <a:ext cx="1845026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PROPOSED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80852"/>
            <a:ext cx="10868745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kern="100" spc="-68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Proposed Solution — FakeLens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523206"/>
            <a:ext cx="10868745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FakeLens combines Natural Language Processing, LSTM, and BERT models to classify news content as Real or Fake. Users enter news content through the web interface and receive a predicted label, confidence score, and selected model result.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20106"/>
            <a:ext cx="3622882" cy="628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534" y="2897783"/>
            <a:ext cx="3308763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Dataset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8534" y="3246437"/>
            <a:ext cx="3308763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PolyglotFakeFacts raw data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120106"/>
            <a:ext cx="3622882" cy="628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1416" y="2897783"/>
            <a:ext cx="3308763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Preprocessing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441416" y="3246437"/>
            <a:ext cx="3308763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Cleaning, deduplication, label assignment, train/val/test split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120106"/>
            <a:ext cx="3622882" cy="628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298" y="2897783"/>
            <a:ext cx="3308763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Model Training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064298" y="3246437"/>
            <a:ext cx="3308763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 + BERT trained and evaluated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32523"/>
            <a:ext cx="3622882" cy="628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8534" y="4610199"/>
            <a:ext cx="3308763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FastAPI Backend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18534" y="4958854"/>
            <a:ext cx="3308763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REST API serving model inference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832523"/>
            <a:ext cx="3622882" cy="6284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41416" y="4610199"/>
            <a:ext cx="3308763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React + Vite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4441416" y="4958854"/>
            <a:ext cx="3308763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Web frontend for user predictions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61475" y="5498306"/>
            <a:ext cx="3523368" cy="877292"/>
          </a:xfrm>
          <a:prstGeom prst="roundRect">
            <a:avLst>
              <a:gd name="adj" fmla="val 16119"/>
            </a:avLst>
          </a:prstGeom>
          <a:solidFill>
            <a:srgbClr val="5A2309">
              <a:alpha val="5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818534" y="5655370"/>
            <a:ext cx="3209249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Input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18534" y="6004024"/>
            <a:ext cx="3209249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User pastes news text into the web interface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334064" y="5498306"/>
            <a:ext cx="3523467" cy="877292"/>
          </a:xfrm>
          <a:prstGeom prst="roundRect">
            <a:avLst>
              <a:gd name="adj" fmla="val 16119"/>
            </a:avLst>
          </a:prstGeom>
          <a:solidFill>
            <a:srgbClr val="D65A1F">
              <a:alpha val="5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4491124" y="5655370"/>
            <a:ext cx="3209349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Model Selection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4491124" y="6004024"/>
            <a:ext cx="3209349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 or BERT processes the input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006753" y="5498306"/>
            <a:ext cx="3523368" cy="877292"/>
          </a:xfrm>
          <a:prstGeom prst="roundRect">
            <a:avLst>
              <a:gd name="adj" fmla="val 16119"/>
            </a:avLst>
          </a:prstGeom>
          <a:solidFill>
            <a:srgbClr val="5A2309">
              <a:alpha val="50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8163812" y="5655370"/>
            <a:ext cx="3209249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Output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8163812" y="6004024"/>
            <a:ext cx="3209249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Predicted label + confidence score displayed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9383"/>
            <a:ext cx="1541821" cy="238820"/>
          </a:xfrm>
          <a:prstGeom prst="roundRect">
            <a:avLst>
              <a:gd name="adj" fmla="val 47369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5730" y="506512"/>
            <a:ext cx="1962895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57833"/>
            <a:ext cx="10868745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kern="100" spc="-68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FakeLens System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269" y="1500188"/>
            <a:ext cx="3218675" cy="4898430"/>
          </a:xfrm>
          <a:prstGeom prst="roundRect">
            <a:avLst>
              <a:gd name="adj" fmla="val 7029"/>
            </a:avLst>
          </a:prstGeom>
          <a:solidFill>
            <a:srgbClr val="1A0C05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5328" y="1649413"/>
            <a:ext cx="2904556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Communication Layer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5328" y="2057797"/>
            <a:ext cx="2904556" cy="1072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All client–server communication uses </a:t>
            </a:r>
            <a:r>
              <a:rPr lang="en-US" sz="12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REST API over HTTP/JSON</a:t>
            </a: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. FastAPI implements and serves these endpoints — REST API is the communication style, not a separate 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5328" y="3337421"/>
            <a:ext cx="2904556" cy="19050"/>
          </a:xfrm>
          <a:prstGeom prst="roundRect">
            <a:avLst>
              <a:gd name="adj" fmla="val 49999"/>
            </a:avLst>
          </a:prstGeom>
          <a:solidFill>
            <a:srgbClr val="FFE4D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05328" y="3563541"/>
            <a:ext cx="2904556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Key Components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5328" y="3971925"/>
            <a:ext cx="2904556" cy="154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4000"/>
              </a:lnSpc>
              <a:buSzPct val="100000"/>
              <a:buChar char="•"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React + Vite Frontend</a:t>
            </a:r>
            <a:endParaRPr lang="en-US" sz="1200" dirty="0"/>
          </a:p>
          <a:p>
            <a:pPr marL="243840" indent="-243840" algn="l">
              <a:lnSpc>
                <a:spcPct val="114000"/>
              </a:lnSpc>
              <a:buSzPct val="100000"/>
              <a:buChar char="•"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FastAPI Backend</a:t>
            </a:r>
            <a:endParaRPr lang="en-US" sz="1200" dirty="0"/>
          </a:p>
          <a:p>
            <a:pPr marL="243840" indent="-243840" algn="l">
              <a:lnSpc>
                <a:spcPct val="114000"/>
              </a:lnSpc>
              <a:buSzPct val="100000"/>
              <a:buChar char="•"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Prediction Service</a:t>
            </a:r>
            <a:endParaRPr lang="en-US" sz="1200" dirty="0"/>
          </a:p>
          <a:p>
            <a:pPr marL="243840" indent="-243840" algn="l">
              <a:lnSpc>
                <a:spcPct val="114000"/>
              </a:lnSpc>
              <a:buSzPct val="100000"/>
              <a:buChar char="•"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 Model</a:t>
            </a:r>
            <a:endParaRPr lang="en-US" sz="1200" dirty="0"/>
          </a:p>
          <a:p>
            <a:pPr marL="243840" indent="-243840" algn="l">
              <a:lnSpc>
                <a:spcPct val="114000"/>
              </a:lnSpc>
              <a:buSzPct val="100000"/>
              <a:buChar char="•"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BERT Model</a:t>
            </a:r>
            <a:endParaRPr lang="en-US" sz="1200" dirty="0"/>
          </a:p>
          <a:p>
            <a:pPr marL="243840" indent="-243840" algn="l">
              <a:lnSpc>
                <a:spcPct val="114000"/>
              </a:lnSpc>
              <a:buSzPct val="100000"/>
              <a:buChar char="•"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Prediction Output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3460" y="1668066"/>
            <a:ext cx="7493110" cy="11896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40166" y="1844179"/>
            <a:ext cx="652029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React + Vite Frontend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40166" y="2252563"/>
            <a:ext cx="6520295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News Detection · Dashboard · Analytics · Model Comparison — sends requests via </a:t>
            </a:r>
            <a:r>
              <a:rPr lang="en-US" sz="12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REST API (HTTP/JSON)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3460" y="3006923"/>
            <a:ext cx="7493110" cy="9751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0166" y="3183037"/>
            <a:ext cx="652029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FastAPI Backend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40166" y="3591421"/>
            <a:ext cx="6520295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Request Validation · API Routing · Model Loading · Inference — FastAPI implements the REST API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3460" y="4131270"/>
            <a:ext cx="7493110" cy="9751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0166" y="4307384"/>
            <a:ext cx="652029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Prediction Service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4840166" y="4715768"/>
            <a:ext cx="6520295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Text Preprocessing · Tokenization · Model Selection → routes to </a:t>
            </a:r>
            <a:r>
              <a:rPr lang="en-US" sz="12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LSTM</a:t>
            </a: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or </a:t>
            </a:r>
            <a:r>
              <a:rPr lang="en-US" sz="12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BERT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3460" y="5255617"/>
            <a:ext cx="7493110" cy="9751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40166" y="5431730"/>
            <a:ext cx="6520295" cy="259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Prediction Output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4840166" y="5840115"/>
            <a:ext cx="6520295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Real / Fake classification + Confidence Score → returned to frontend for display</a:t>
            </a:r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64BB05-E9F2-EAA6-BB2F-EBB977A43584}"/>
              </a:ext>
            </a:extLst>
          </p:cNvPr>
          <p:cNvSpPr/>
          <p:nvPr/>
        </p:nvSpPr>
        <p:spPr>
          <a:xfrm>
            <a:off x="11077074" y="6537158"/>
            <a:ext cx="1114926" cy="320842"/>
          </a:xfrm>
          <a:prstGeom prst="rect">
            <a:avLst/>
          </a:prstGeom>
          <a:solidFill>
            <a:srgbClr val="0C0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006"/>
            <a:ext cx="641235" cy="176014"/>
          </a:xfrm>
          <a:prstGeom prst="roundRect">
            <a:avLst>
              <a:gd name="adj" fmla="val 4735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926" y="592733"/>
            <a:ext cx="1111917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ML MODELS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66366"/>
            <a:ext cx="10868745" cy="381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kern="100" spc="-50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Machine Learning Models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783" y="1395710"/>
            <a:ext cx="5459871" cy="1685131"/>
          </a:xfrm>
          <a:prstGeom prst="roundRect">
            <a:avLst>
              <a:gd name="adj" fmla="val 9893"/>
            </a:avLst>
          </a:prstGeom>
          <a:solidFill>
            <a:srgbClr val="1A0C05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3819" y="1360984"/>
            <a:ext cx="366207" cy="176014"/>
          </a:xfrm>
          <a:prstGeom prst="roundRect">
            <a:avLst>
              <a:gd name="adj" fmla="val 47358"/>
            </a:avLst>
          </a:prstGeom>
          <a:solidFill>
            <a:srgbClr val="4D1F00"/>
          </a:solidFill>
          <a:ln/>
        </p:spPr>
      </p:sp>
      <p:sp>
        <p:nvSpPr>
          <p:cNvPr id="7" name="Text 5"/>
          <p:cNvSpPr/>
          <p:nvPr/>
        </p:nvSpPr>
        <p:spPr>
          <a:xfrm>
            <a:off x="763271" y="1395710"/>
            <a:ext cx="836889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93819" y="1569343"/>
            <a:ext cx="5228499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Long Short-Term Memory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120" y="1838623"/>
            <a:ext cx="2576250" cy="3008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4905" y="1851323"/>
            <a:ext cx="2422464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Architecture: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Recurrent neural network designed for sequential data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969" y="1838623"/>
            <a:ext cx="2576349" cy="3008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9755" y="1851323"/>
            <a:ext cx="2422564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Processing: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Analyses text word-by-word in sequence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120" y="2276078"/>
            <a:ext cx="2576250" cy="30083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4905" y="2288778"/>
            <a:ext cx="2422464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Strength: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Captures word order and sequential linguistic patterns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5969" y="2276078"/>
            <a:ext cx="2576349" cy="30083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99755" y="2288778"/>
            <a:ext cx="2422564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Task fit: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Suitable for sequence classification tasks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120" y="2713534"/>
            <a:ext cx="5241199" cy="1631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4905" y="2726234"/>
            <a:ext cx="508741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Efficiency: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Relatively lightweight for inference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243382" y="1360984"/>
            <a:ext cx="352416" cy="176014"/>
          </a:xfrm>
          <a:prstGeom prst="roundRect">
            <a:avLst>
              <a:gd name="adj" fmla="val 47358"/>
            </a:avLst>
          </a:prstGeom>
          <a:solidFill>
            <a:srgbClr val="4D1F00"/>
          </a:solidFill>
          <a:ln/>
        </p:spPr>
      </p:sp>
      <p:sp>
        <p:nvSpPr>
          <p:cNvPr id="20" name="Text 13"/>
          <p:cNvSpPr/>
          <p:nvPr/>
        </p:nvSpPr>
        <p:spPr>
          <a:xfrm>
            <a:off x="6312833" y="1395710"/>
            <a:ext cx="82309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BERT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6243382" y="1569343"/>
            <a:ext cx="5293188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Bidirectional Encoder Representations from Transformers</a:t>
            </a:r>
            <a:endParaRPr lang="en-US" sz="12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0682" y="1838623"/>
            <a:ext cx="2608594" cy="30083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384468" y="1851323"/>
            <a:ext cx="2454809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Architecture: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Transformer-based with multi-head self-attention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27877" y="1838623"/>
            <a:ext cx="2608693" cy="30083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81662" y="1851323"/>
            <a:ext cx="2454908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Processing: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Encodes entire input context bidirectionally</a:t>
            </a:r>
            <a:endParaRPr lang="en-US" sz="9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30682" y="2276078"/>
            <a:ext cx="2608594" cy="300831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384468" y="2288778"/>
            <a:ext cx="2454809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Strength: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Understands words based on full surrounding context</a:t>
            </a:r>
            <a:endParaRPr lang="en-US" sz="9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7877" y="2276078"/>
            <a:ext cx="2608693" cy="300831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081662" y="2288778"/>
            <a:ext cx="2454908" cy="2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Task fit: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Effective for complex language patterns and semantics</a:t>
            </a:r>
            <a:endParaRPr lang="en-US" sz="9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0682" y="2713534"/>
            <a:ext cx="5305888" cy="16311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384468" y="2726234"/>
            <a:ext cx="5152102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Mechanism:</a:t>
            </a: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Uses attention mechanisms for contextual representations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23149" y="3046115"/>
            <a:ext cx="7545397" cy="32537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2830927" y="5676912"/>
            <a:ext cx="1882947" cy="22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100" spc="-30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REAL or FAKE</a:t>
            </a:r>
            <a:endParaRPr lang="en-US" sz="1450" dirty="0"/>
          </a:p>
        </p:txBody>
      </p:sp>
      <p:sp>
        <p:nvSpPr>
          <p:cNvPr id="34" name="Text 21"/>
          <p:cNvSpPr/>
          <p:nvPr/>
        </p:nvSpPr>
        <p:spPr>
          <a:xfrm>
            <a:off x="2830927" y="4923715"/>
            <a:ext cx="1882947" cy="22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100" spc="-30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Prediction Prob.</a:t>
            </a:r>
            <a:endParaRPr lang="en-US" sz="1450" dirty="0"/>
          </a:p>
        </p:txBody>
      </p:sp>
      <p:sp>
        <p:nvSpPr>
          <p:cNvPr id="35" name="Text 22"/>
          <p:cNvSpPr/>
          <p:nvPr/>
        </p:nvSpPr>
        <p:spPr>
          <a:xfrm>
            <a:off x="2830927" y="4178126"/>
            <a:ext cx="1882947" cy="22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100" spc="-30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LSTM or BERT</a:t>
            </a:r>
            <a:endParaRPr lang="en-US" sz="1450" dirty="0"/>
          </a:p>
        </p:txBody>
      </p:sp>
      <p:sp>
        <p:nvSpPr>
          <p:cNvPr id="36" name="Text 23"/>
          <p:cNvSpPr/>
          <p:nvPr/>
        </p:nvSpPr>
        <p:spPr>
          <a:xfrm>
            <a:off x="2830927" y="3424928"/>
            <a:ext cx="1882947" cy="22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100" spc="-30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Input News</a:t>
            </a:r>
            <a:endParaRPr lang="en-US" sz="14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F3D925-CA36-0A3B-7BD7-82931A07ACAD}"/>
              </a:ext>
            </a:extLst>
          </p:cNvPr>
          <p:cNvSpPr/>
          <p:nvPr/>
        </p:nvSpPr>
        <p:spPr>
          <a:xfrm>
            <a:off x="11077074" y="6537158"/>
            <a:ext cx="1114926" cy="320842"/>
          </a:xfrm>
          <a:prstGeom prst="rect">
            <a:avLst/>
          </a:prstGeom>
          <a:solidFill>
            <a:srgbClr val="0C0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1922"/>
            <a:ext cx="986805" cy="188516"/>
          </a:xfrm>
          <a:prstGeom prst="roundRect">
            <a:avLst>
              <a:gd name="adj" fmla="val 47376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5887" y="809129"/>
            <a:ext cx="1447565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TRAINING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97645"/>
            <a:ext cx="10868745" cy="409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50" kern="100" spc="-54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Model Training &amp; Data Pipeline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651000"/>
            <a:ext cx="24804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-2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842889"/>
            <a:ext cx="3432883" cy="12700"/>
          </a:xfrm>
          <a:prstGeom prst="rect">
            <a:avLst/>
          </a:prstGeom>
          <a:solidFill>
            <a:srgbClr val="D65A1F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930301"/>
            <a:ext cx="3432883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PolyglotFakeFacts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227858"/>
            <a:ext cx="3432883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Raw Excel source files loaded for processing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87323" y="1651000"/>
            <a:ext cx="24804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-2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87323" y="1842889"/>
            <a:ext cx="3432883" cy="12700"/>
          </a:xfrm>
          <a:prstGeom prst="rect">
            <a:avLst/>
          </a:prstGeom>
          <a:solidFill>
            <a:srgbClr val="5A2309"/>
          </a:solidFill>
          <a:ln/>
        </p:spPr>
      </p:sp>
      <p:sp>
        <p:nvSpPr>
          <p:cNvPr id="11" name="Text 9"/>
          <p:cNvSpPr/>
          <p:nvPr/>
        </p:nvSpPr>
        <p:spPr>
          <a:xfrm>
            <a:off x="4187323" y="1930301"/>
            <a:ext cx="3432883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Data Cleaning &amp; Deduplication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87323" y="2227858"/>
            <a:ext cx="3432883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Remove noise, duplicates, and malformed entries; assign Real/Fake labels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1475" y="2717602"/>
            <a:ext cx="24804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-2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1475" y="2909491"/>
            <a:ext cx="3432883" cy="12700"/>
          </a:xfrm>
          <a:prstGeom prst="rect">
            <a:avLst/>
          </a:prstGeom>
          <a:solidFill>
            <a:srgbClr val="1A0C05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2996902"/>
            <a:ext cx="3432883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Train / Validation / Test Split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3294459"/>
            <a:ext cx="3432883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Stratified split to ensure balanced class distribution across sets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87323" y="2717602"/>
            <a:ext cx="24804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-2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87323" y="2909491"/>
            <a:ext cx="3432883" cy="12700"/>
          </a:xfrm>
          <a:prstGeom prst="rect">
            <a:avLst/>
          </a:prstGeom>
          <a:solidFill>
            <a:srgbClr val="0B0603"/>
          </a:solidFill>
          <a:ln/>
        </p:spPr>
      </p:sp>
      <p:sp>
        <p:nvSpPr>
          <p:cNvPr id="19" name="Text 17"/>
          <p:cNvSpPr/>
          <p:nvPr/>
        </p:nvSpPr>
        <p:spPr>
          <a:xfrm>
            <a:off x="4187323" y="2996902"/>
            <a:ext cx="3432883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Text Tokenization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87323" y="3294459"/>
            <a:ext cx="3432883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 uses vocabulary tokenizer; BERT uses WordPiece tokenizer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1475" y="3784203"/>
            <a:ext cx="24804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-2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1475" y="3976092"/>
            <a:ext cx="3432883" cy="12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063504"/>
            <a:ext cx="3432883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Parallel Model Training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1475" y="4361061"/>
            <a:ext cx="3432883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 (</a:t>
            </a:r>
            <a:r>
              <a:rPr lang="en-US" sz="950" dirty="0" err="1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PyTorch</a:t>
            </a: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RNN) and BERT (Hugging Face Transformers) trained independently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87323" y="3784203"/>
            <a:ext cx="24804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-2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87323" y="3976092"/>
            <a:ext cx="3432883" cy="12700"/>
          </a:xfrm>
          <a:prstGeom prst="rect">
            <a:avLst/>
          </a:prstGeom>
          <a:solidFill>
            <a:srgbClr val="FFE4D0"/>
          </a:solidFill>
          <a:ln/>
        </p:spPr>
      </p:sp>
      <p:sp>
        <p:nvSpPr>
          <p:cNvPr id="27" name="Text 25"/>
          <p:cNvSpPr/>
          <p:nvPr/>
        </p:nvSpPr>
        <p:spPr>
          <a:xfrm>
            <a:off x="4187323" y="4063504"/>
            <a:ext cx="3432883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Model Evaluation &amp; Checkpoints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87323" y="4361061"/>
            <a:ext cx="3432883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Evaluated on validation set; best weights saved as model checkpoints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1475" y="4850805"/>
            <a:ext cx="24804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-2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07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1475" y="5042694"/>
            <a:ext cx="6958731" cy="12700"/>
          </a:xfrm>
          <a:prstGeom prst="rect">
            <a:avLst/>
          </a:prstGeom>
          <a:solidFill>
            <a:srgbClr val="D75B20"/>
          </a:solidFill>
          <a:ln/>
        </p:spPr>
      </p:sp>
      <p:sp>
        <p:nvSpPr>
          <p:cNvPr id="31" name="Text 29"/>
          <p:cNvSpPr/>
          <p:nvPr/>
        </p:nvSpPr>
        <p:spPr>
          <a:xfrm>
            <a:off x="661475" y="5130105"/>
            <a:ext cx="6958731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FastAPI Prediction Service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475" y="5427663"/>
            <a:ext cx="6958731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Checkpoints loaded at startup; serve real-time predictions via REST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39871" y="1546423"/>
            <a:ext cx="3785894" cy="4539555"/>
          </a:xfrm>
          <a:prstGeom prst="roundRect">
            <a:avLst>
              <a:gd name="adj" fmla="val 4718"/>
            </a:avLst>
          </a:prstGeom>
          <a:solidFill>
            <a:srgbClr val="1A0C05">
              <a:alpha val="9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963891" y="1639391"/>
            <a:ext cx="3537854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Data Layer Artifacts</a:t>
            </a:r>
            <a:endParaRPr lang="en-US" sz="13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91" y="1948557"/>
            <a:ext cx="3537854" cy="7229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151410" y="2085280"/>
            <a:ext cx="321361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Raw Data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151410" y="2382838"/>
            <a:ext cx="3213615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Excel (.xlsx) source files from PolyglotFakeFacts dataset</a:t>
            </a:r>
            <a:endParaRPr lang="en-US" sz="95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91" y="2776041"/>
            <a:ext cx="3537854" cy="72290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8151410" y="2912765"/>
            <a:ext cx="321361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Processed Data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8151410" y="3210322"/>
            <a:ext cx="3213615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Cleaned and labelled CSV files ready for training</a:t>
            </a:r>
            <a:endParaRPr lang="en-US" sz="95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91" y="3603526"/>
            <a:ext cx="3537854" cy="72290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151410" y="3740249"/>
            <a:ext cx="321361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Tokenizers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151410" y="4037806"/>
            <a:ext cx="3213615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Vocabulary files and BERT WordPiece tokenizer configs</a:t>
            </a:r>
            <a:endParaRPr lang="en-US" sz="95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91" y="4431010"/>
            <a:ext cx="3537854" cy="72290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8151410" y="4567734"/>
            <a:ext cx="321361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Model Checkpoints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8151410" y="4865291"/>
            <a:ext cx="3213615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Best-performing LSTM and BERT weights (.pt / .bin)</a:t>
            </a:r>
            <a:endParaRPr lang="en-US" sz="95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91" y="5258495"/>
            <a:ext cx="3537854" cy="72290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8151410" y="5395218"/>
            <a:ext cx="321361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-27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8151410" y="5692775"/>
            <a:ext cx="3213615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Accuracy, precision, recall, F1-score logged per epoch</a:t>
            </a:r>
            <a:endParaRPr lang="en-US" sz="95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5011817-8B23-F243-0E48-E90C1791A34A}"/>
              </a:ext>
            </a:extLst>
          </p:cNvPr>
          <p:cNvSpPr/>
          <p:nvPr/>
        </p:nvSpPr>
        <p:spPr>
          <a:xfrm>
            <a:off x="11077074" y="6537158"/>
            <a:ext cx="1114926" cy="320842"/>
          </a:xfrm>
          <a:prstGeom prst="rect">
            <a:avLst/>
          </a:prstGeom>
          <a:solidFill>
            <a:srgbClr val="0C0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408"/>
            <a:ext cx="1033437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848" y="572095"/>
            <a:ext cx="148427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WEB APPLICATION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75791"/>
            <a:ext cx="10868745" cy="436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kern="100" spc="-57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Web Application &amp; Prediction Workflow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476871"/>
            <a:ext cx="5832528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-29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User Journey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1814215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D65A1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1161" y="1832074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4888" y="1870373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User enters or pastes news content into the detection page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1475" y="2323505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5A2309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01161" y="2341364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64888" y="2379663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User selects </a:t>
            </a:r>
            <a:r>
              <a:rPr lang="en-US" sz="10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LSTM</a:t>
            </a: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or </a:t>
            </a:r>
            <a:r>
              <a:rPr lang="en-US" sz="10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BERT</a:t>
            </a: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model for prediction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1475" y="2832795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1A0C05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1161" y="2850654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64888" y="2888952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React frontend sends a </a:t>
            </a:r>
            <a:r>
              <a:rPr lang="en-US" sz="10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REST API POST</a:t>
            </a: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request to 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3342084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0B0603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1161" y="3359944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24156" y="3398242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FastAPI validates the request payload.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1475" y="3851374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1161" y="3869234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64888" y="3907532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Prediction service preprocesses and tokenizes the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1475" y="4360664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FFE4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01161" y="4378523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64888" y="4416822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Selected model performs inference on the processed input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1475" y="4869954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D75B20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1161" y="4887813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7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64888" y="4926112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Backend returns predicted label and confidence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1475" y="5379244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D65A1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1161" y="5397103"/>
            <a:ext cx="218276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100" spc="-34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8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64888" y="5435402"/>
            <a:ext cx="542911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Frontend displays the result to the user instantly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7756" y="1371104"/>
            <a:ext cx="4903962" cy="4954488"/>
          </a:xfrm>
          <a:prstGeom prst="roundRect">
            <a:avLst>
              <a:gd name="adj" fmla="val 3885"/>
            </a:avLst>
          </a:prstGeom>
          <a:solidFill>
            <a:srgbClr val="1A0C05">
              <a:alpha val="9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60011" y="1476871"/>
            <a:ext cx="4639452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-29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Illustrative UI Example</a:t>
            </a:r>
            <a:endParaRPr lang="en-US" sz="14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0011" y="1814215"/>
            <a:ext cx="4639452" cy="79335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87514" y="1965523"/>
            <a:ext cx="4260644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-29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News Input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087514" y="2289572"/>
            <a:ext cx="426064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"[Example news article text submitted for analysis]"</a:t>
            </a:r>
            <a:endParaRPr lang="en-US" sz="10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0011" y="2726630"/>
            <a:ext cx="4639452" cy="793353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087514" y="2877939"/>
            <a:ext cx="4260644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-29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Model Selected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7087514" y="3201988"/>
            <a:ext cx="426064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BERT</a:t>
            </a:r>
            <a:endParaRPr lang="en-US" sz="10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0011" y="3639046"/>
            <a:ext cx="4639452" cy="79335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87514" y="3790355"/>
            <a:ext cx="4260644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-29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Result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7087514" y="4114403"/>
            <a:ext cx="426064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✓ </a:t>
            </a:r>
            <a:r>
              <a:rPr lang="en-US" sz="10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 News</a:t>
            </a:r>
            <a:endParaRPr lang="en-US" sz="10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0011" y="4551462"/>
            <a:ext cx="4639452" cy="793353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087514" y="4702770"/>
            <a:ext cx="4260644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-29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087514" y="5026819"/>
            <a:ext cx="426064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92.3% </a:t>
            </a:r>
            <a:r>
              <a:rPr lang="en-US" sz="1000" i="1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(illustrative UI example only — not a measured project result)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860011" y="5496917"/>
            <a:ext cx="4639452" cy="19050"/>
          </a:xfrm>
          <a:prstGeom prst="roundRect">
            <a:avLst>
              <a:gd name="adj" fmla="val 49999"/>
            </a:avLst>
          </a:prstGeom>
          <a:solidFill>
            <a:srgbClr val="FFE4D0">
              <a:alpha val="50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6860011" y="5668070"/>
            <a:ext cx="4639452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-29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Website Sections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6860011" y="6005413"/>
            <a:ext cx="714456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939384" y="6045101"/>
            <a:ext cx="116529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DETECTION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7640546" y="6005413"/>
            <a:ext cx="765950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719919" y="6045101"/>
            <a:ext cx="121678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DASHBOARD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8472573" y="6005413"/>
            <a:ext cx="687470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551946" y="6045101"/>
            <a:ext cx="113830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ANALYTICS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9226121" y="6005413"/>
            <a:ext cx="1190992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9305494" y="6045101"/>
            <a:ext cx="164183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MODEL COMPARISON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10483191" y="6005413"/>
            <a:ext cx="962398" cy="201116"/>
          </a:xfrm>
          <a:prstGeom prst="roundRect">
            <a:avLst>
              <a:gd name="adj" fmla="val 4736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10562564" y="6045101"/>
            <a:ext cx="1413237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ABOUT PROJECT</a:t>
            </a:r>
            <a:endParaRPr lang="en-US" sz="8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8B59DF-BF11-1276-B6DB-07782E20058D}"/>
              </a:ext>
            </a:extLst>
          </p:cNvPr>
          <p:cNvSpPr/>
          <p:nvPr/>
        </p:nvSpPr>
        <p:spPr>
          <a:xfrm>
            <a:off x="11077074" y="6537158"/>
            <a:ext cx="1114926" cy="320842"/>
          </a:xfrm>
          <a:prstGeom prst="rect">
            <a:avLst/>
          </a:prstGeom>
          <a:solidFill>
            <a:srgbClr val="0C0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1479"/>
            <a:ext cx="1507591" cy="213717"/>
          </a:xfrm>
          <a:prstGeom prst="roundRect">
            <a:avLst>
              <a:gd name="adj" fmla="val 47361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809" y="603647"/>
            <a:ext cx="1948508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TECHNOLOGY STACK &amp; API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22920"/>
            <a:ext cx="10868745" cy="4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kern="100" spc="-61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Technology Stack &amp; Backend API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778992"/>
            <a:ext cx="5823499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100" spc="-30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2130326"/>
            <a:ext cx="582349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React</a:t>
            </a: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· TypeScript · </a:t>
            </a:r>
            <a:r>
              <a:rPr lang="en-US" sz="11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Vite</a:t>
            </a: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· Tailwind CSS · HTML/CSS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2729905"/>
            <a:ext cx="5823499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100" spc="-30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1475" y="3081238"/>
            <a:ext cx="582349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</a:t>
            </a: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· </a:t>
            </a:r>
            <a:r>
              <a:rPr lang="en-US" sz="11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FastAPI</a:t>
            </a: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· Uvicorn · Pydantic · REST APIs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3680817"/>
            <a:ext cx="5823499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100" spc="-30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1475" y="4032151"/>
            <a:ext cx="582349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E4D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PyTorch</a:t>
            </a: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 · Hugging Face Transformers · BERT · LSTM · Scikit-learn · Pandas · NumPy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475" y="4631730"/>
            <a:ext cx="5823499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100" spc="-30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Dataset &amp; Processing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1475" y="4983063"/>
            <a:ext cx="582349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PolyglotFakeFacts · Excel / CSV · OpenPyXL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475" y="5582642"/>
            <a:ext cx="5823499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100" spc="-30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Development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1475" y="5933976"/>
            <a:ext cx="5823499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Jupyter Notebook · Git / GitHub · npm · Python virtual environment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33014" y="1466056"/>
            <a:ext cx="4904657" cy="4830465"/>
          </a:xfrm>
          <a:prstGeom prst="roundRect">
            <a:avLst>
              <a:gd name="adj" fmla="val 4191"/>
            </a:avLst>
          </a:prstGeom>
          <a:solidFill>
            <a:srgbClr val="1A0C05">
              <a:alpha val="9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73505" y="1585516"/>
            <a:ext cx="4623677" cy="231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100" spc="-30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REST API Endpoints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3505" y="1936849"/>
            <a:ext cx="4623677" cy="36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FastAPI implements the REST API — these endpoints handle all client-server communication.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73505" y="2435324"/>
          <a:ext cx="4623677" cy="2105073"/>
        </p:xfrm>
        <a:graphic>
          <a:graphicData uri="http://schemas.openxmlformats.org/drawingml/2006/table">
            <a:tbl>
              <a:tblPr/>
              <a:tblGrid>
                <a:gridCol w="1387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Endpoint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Method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6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Purpose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6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5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4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/api/health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GET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Check backend and model status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/api/dashboard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GET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Dataset and model statistics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7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/api/predict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POST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Predict a single news item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9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/api/predict/batch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POST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E4D0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Process multiple news items</a:t>
                      </a:r>
                      <a:endParaRPr lang="en-US" sz="11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90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46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265" y="4687491"/>
            <a:ext cx="3930056" cy="14746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395643" y="5740748"/>
            <a:ext cx="592735" cy="241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100" spc="-16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Render Result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9648633" y="5801013"/>
            <a:ext cx="592736" cy="1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100" spc="-16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Return JSON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8905685" y="5740748"/>
            <a:ext cx="592735" cy="241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100" spc="-16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FastAPI Predict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8162736" y="5801013"/>
            <a:ext cx="592735" cy="120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100" spc="-16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Send JSON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7403547" y="5740748"/>
            <a:ext cx="592735" cy="241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100" spc="-16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React Request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642425" y="1600398"/>
            <a:ext cx="5861598" cy="38100"/>
          </a:xfrm>
          <a:prstGeom prst="rect">
            <a:avLst/>
          </a:prstGeom>
          <a:solidFill>
            <a:srgbClr val="D65A1F"/>
          </a:solidFill>
          <a:ln/>
        </p:spPr>
      </p:sp>
      <p:sp>
        <p:nvSpPr>
          <p:cNvPr id="26" name="Shape 22"/>
          <p:cNvSpPr/>
          <p:nvPr/>
        </p:nvSpPr>
        <p:spPr>
          <a:xfrm>
            <a:off x="642425" y="2551311"/>
            <a:ext cx="5861598" cy="38100"/>
          </a:xfrm>
          <a:prstGeom prst="rect">
            <a:avLst/>
          </a:prstGeom>
          <a:solidFill>
            <a:srgbClr val="5A2309"/>
          </a:solidFill>
          <a:ln/>
        </p:spPr>
      </p:sp>
      <p:sp>
        <p:nvSpPr>
          <p:cNvPr id="27" name="Shape 23"/>
          <p:cNvSpPr/>
          <p:nvPr/>
        </p:nvSpPr>
        <p:spPr>
          <a:xfrm>
            <a:off x="642425" y="3502223"/>
            <a:ext cx="5861598" cy="38100"/>
          </a:xfrm>
          <a:prstGeom prst="rect">
            <a:avLst/>
          </a:prstGeom>
          <a:solidFill>
            <a:srgbClr val="1A0C05"/>
          </a:solidFill>
          <a:ln/>
        </p:spPr>
      </p:sp>
      <p:sp>
        <p:nvSpPr>
          <p:cNvPr id="28" name="Shape 24"/>
          <p:cNvSpPr/>
          <p:nvPr/>
        </p:nvSpPr>
        <p:spPr>
          <a:xfrm>
            <a:off x="642425" y="4453136"/>
            <a:ext cx="5861598" cy="38100"/>
          </a:xfrm>
          <a:prstGeom prst="rect">
            <a:avLst/>
          </a:prstGeom>
          <a:solidFill>
            <a:srgbClr val="0B0603"/>
          </a:solidFill>
          <a:ln/>
        </p:spPr>
      </p:sp>
      <p:sp>
        <p:nvSpPr>
          <p:cNvPr id="29" name="Shape 25"/>
          <p:cNvSpPr/>
          <p:nvPr/>
        </p:nvSpPr>
        <p:spPr>
          <a:xfrm>
            <a:off x="642425" y="5404048"/>
            <a:ext cx="5861598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3D5F8C-786C-626E-48F4-4386B067F852}"/>
              </a:ext>
            </a:extLst>
          </p:cNvPr>
          <p:cNvSpPr/>
          <p:nvPr/>
        </p:nvSpPr>
        <p:spPr>
          <a:xfrm>
            <a:off x="11077074" y="6537158"/>
            <a:ext cx="1114926" cy="320842"/>
          </a:xfrm>
          <a:prstGeom prst="rect">
            <a:avLst/>
          </a:prstGeom>
          <a:solidFill>
            <a:srgbClr val="0C0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1038"/>
            <a:ext cx="1295070" cy="176014"/>
          </a:xfrm>
          <a:prstGeom prst="roundRect">
            <a:avLst>
              <a:gd name="adj" fmla="val 47358"/>
            </a:avLst>
          </a:prstGeom>
          <a:noFill/>
          <a:ln w="6350">
            <a:solidFill>
              <a:srgbClr val="FFA5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926" y="715764"/>
            <a:ext cx="1765752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FFA567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FEATURES &amp; FUTURE SCOPE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89397"/>
            <a:ext cx="10868745" cy="381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kern="100" spc="-50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Features &amp; Future Enhancements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8133" y="1392932"/>
            <a:ext cx="5236833" cy="2390180"/>
          </a:xfrm>
          <a:prstGeom prst="roundRect">
            <a:avLst>
              <a:gd name="adj" fmla="val 6975"/>
            </a:avLst>
          </a:prstGeom>
          <a:solidFill>
            <a:srgbClr val="1A0C05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3819" y="1473895"/>
            <a:ext cx="5005461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Current Features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3819" y="180796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8" name="Text 6"/>
          <p:cNvSpPr/>
          <p:nvPr/>
        </p:nvSpPr>
        <p:spPr>
          <a:xfrm>
            <a:off x="832623" y="1755874"/>
            <a:ext cx="4866657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Fake / Real news classification with confidence score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3819" y="210770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10" name="Text 8"/>
          <p:cNvSpPr/>
          <p:nvPr/>
        </p:nvSpPr>
        <p:spPr>
          <a:xfrm>
            <a:off x="832623" y="2055614"/>
            <a:ext cx="4866657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LSTM and BERT model selection per prediction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3819" y="240744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12" name="Text 10"/>
          <p:cNvSpPr/>
          <p:nvPr/>
        </p:nvSpPr>
        <p:spPr>
          <a:xfrm>
            <a:off x="832623" y="2355354"/>
            <a:ext cx="4866657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Interactive detection interface and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3819" y="270718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14" name="Text 12"/>
          <p:cNvSpPr/>
          <p:nvPr/>
        </p:nvSpPr>
        <p:spPr>
          <a:xfrm>
            <a:off x="832623" y="2655094"/>
            <a:ext cx="4866657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Analytics, model comparison, and batch prediction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3819" y="3006923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623" y="2954834"/>
            <a:ext cx="4866657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Responsive web design and About Project page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20344" y="1473895"/>
            <a:ext cx="5516127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A567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20344" y="180796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19" name="Text 17"/>
          <p:cNvSpPr/>
          <p:nvPr/>
        </p:nvSpPr>
        <p:spPr>
          <a:xfrm>
            <a:off x="6159147" y="1755874"/>
            <a:ext cx="537732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Real-time news verification APIs &amp; multilingual BERT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0344" y="210770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21" name="Text 19"/>
          <p:cNvSpPr/>
          <p:nvPr/>
        </p:nvSpPr>
        <p:spPr>
          <a:xfrm>
            <a:off x="6159147" y="2055614"/>
            <a:ext cx="537732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Source credibility and author reputation analysis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20344" y="240744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23" name="Text 21"/>
          <p:cNvSpPr/>
          <p:nvPr/>
        </p:nvSpPr>
        <p:spPr>
          <a:xfrm>
            <a:off x="6159147" y="2355354"/>
            <a:ext cx="537732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Image, video, and deepfake detection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20344" y="2707184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25" name="Text 23"/>
          <p:cNvSpPr/>
          <p:nvPr/>
        </p:nvSpPr>
        <p:spPr>
          <a:xfrm>
            <a:off x="6159147" y="2655094"/>
            <a:ext cx="537732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Explainable AI, satire and clickbait detection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20344" y="3006923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27" name="Text 25"/>
          <p:cNvSpPr/>
          <p:nvPr/>
        </p:nvSpPr>
        <p:spPr>
          <a:xfrm>
            <a:off x="6159147" y="2954834"/>
            <a:ext cx="537732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Cloud deployment, mobile application, browser extension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20344" y="3306663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29" name="Text 27"/>
          <p:cNvSpPr/>
          <p:nvPr/>
        </p:nvSpPr>
        <p:spPr>
          <a:xfrm>
            <a:off x="6159147" y="3254573"/>
            <a:ext cx="537732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User accounts, prediction history, and admin tools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20344" y="3606403"/>
            <a:ext cx="57843" cy="57845"/>
          </a:xfrm>
          <a:prstGeom prst="ellipse">
            <a:avLst/>
          </a:prstGeom>
          <a:solidFill>
            <a:srgbClr val="FFA567"/>
          </a:solidFill>
          <a:ln/>
        </p:spPr>
      </p:sp>
      <p:sp>
        <p:nvSpPr>
          <p:cNvPr id="31" name="Text 29"/>
          <p:cNvSpPr/>
          <p:nvPr/>
        </p:nvSpPr>
        <p:spPr>
          <a:xfrm>
            <a:off x="6159147" y="3554313"/>
            <a:ext cx="5377323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Continuous model retraining with live data</a:t>
            </a:r>
            <a:endParaRPr lang="en-US" sz="9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874195"/>
            <a:ext cx="3622882" cy="46305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77161" y="4418211"/>
            <a:ext cx="3391510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Data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77161" y="4657725"/>
            <a:ext cx="3391510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PolyglotFakeFacts</a:t>
            </a:r>
            <a:endParaRPr lang="en-US" sz="9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3874195"/>
            <a:ext cx="3622882" cy="46305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400043" y="4418211"/>
            <a:ext cx="3391510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NLP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4400043" y="4657725"/>
            <a:ext cx="3391510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Preprocessing &amp; Tokenization</a:t>
            </a:r>
            <a:endParaRPr lang="en-US" sz="9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3874195"/>
            <a:ext cx="3622882" cy="46305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022925" y="4418211"/>
            <a:ext cx="3391510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LSTM / BERT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8022925" y="4657725"/>
            <a:ext cx="3391510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Model Inference</a:t>
            </a:r>
            <a:endParaRPr lang="en-US" sz="9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911130"/>
            <a:ext cx="3622882" cy="46305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77161" y="5455146"/>
            <a:ext cx="3391510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FastAPI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777161" y="5694660"/>
            <a:ext cx="3391510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REST API Backend</a:t>
            </a:r>
            <a:endParaRPr lang="en-US" sz="9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4911130"/>
            <a:ext cx="3622882" cy="46305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4400043" y="5455146"/>
            <a:ext cx="3391510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React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4400043" y="5694660"/>
            <a:ext cx="3391510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Web Frontend</a:t>
            </a:r>
            <a:endParaRPr lang="en-US" sz="9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239" y="4911130"/>
            <a:ext cx="3622882" cy="463054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022925" y="5455146"/>
            <a:ext cx="3391510" cy="190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25" dirty="0">
                <a:solidFill>
                  <a:srgbClr val="FFE4D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8022925" y="5694660"/>
            <a:ext cx="3391510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Real / Fake + Confidence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356682" y="6039148"/>
            <a:ext cx="11478330" cy="13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900" i="1" dirty="0">
                <a:solidFill>
                  <a:srgbClr val="FFE4D0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"AI-Assisted Detection for Smarter News Verification"</a:t>
            </a:r>
            <a:endParaRPr lang="en-US" sz="9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19E8CF-C630-B90B-6C3D-F7C17C7510B3}"/>
              </a:ext>
            </a:extLst>
          </p:cNvPr>
          <p:cNvSpPr/>
          <p:nvPr/>
        </p:nvSpPr>
        <p:spPr>
          <a:xfrm>
            <a:off x="11077074" y="6537158"/>
            <a:ext cx="1114926" cy="320842"/>
          </a:xfrm>
          <a:prstGeom prst="rect">
            <a:avLst/>
          </a:prstGeom>
          <a:solidFill>
            <a:srgbClr val="0C0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1097</Words>
  <Application>Microsoft Office PowerPoint</Application>
  <PresentationFormat>Widescreen</PresentationFormat>
  <Paragraphs>235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Consolas</vt:lpstr>
      <vt:lpstr>Spline Sans</vt:lpstr>
      <vt:lpstr>Spline Sans Bold</vt:lpstr>
      <vt:lpstr>Spline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K.SRIRAM</dc:creator>
  <cp:lastModifiedBy>sriram kunapareddy</cp:lastModifiedBy>
  <cp:revision>2</cp:revision>
  <dcterms:created xsi:type="dcterms:W3CDTF">2026-10-03T05:39:47Z</dcterms:created>
  <dcterms:modified xsi:type="dcterms:W3CDTF">2026-10-03T06:17:32Z</dcterms:modified>
</cp:coreProperties>
</file>