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handoutMasterIdLst>
    <p:handoutMasterId r:id="rId33"/>
  </p:handoutMasterIdLst>
  <p:sldIdLst>
    <p:sldId id="310" r:id="rId5"/>
    <p:sldId id="305" r:id="rId6"/>
    <p:sldId id="276" r:id="rId7"/>
    <p:sldId id="311" r:id="rId8"/>
    <p:sldId id="274" r:id="rId9"/>
    <p:sldId id="312" r:id="rId10"/>
    <p:sldId id="302" r:id="rId11"/>
    <p:sldId id="313" r:id="rId12"/>
    <p:sldId id="314" r:id="rId13"/>
    <p:sldId id="315" r:id="rId14"/>
    <p:sldId id="307" r:id="rId15"/>
    <p:sldId id="316" r:id="rId16"/>
    <p:sldId id="317" r:id="rId17"/>
    <p:sldId id="318" r:id="rId18"/>
    <p:sldId id="319" r:id="rId19"/>
    <p:sldId id="320" r:id="rId20"/>
    <p:sldId id="321" r:id="rId21"/>
    <p:sldId id="322" r:id="rId22"/>
    <p:sldId id="323" r:id="rId23"/>
    <p:sldId id="324" r:id="rId24"/>
    <p:sldId id="325" r:id="rId25"/>
    <p:sldId id="329" r:id="rId26"/>
    <p:sldId id="330" r:id="rId27"/>
    <p:sldId id="326" r:id="rId28"/>
    <p:sldId id="328" r:id="rId29"/>
    <p:sldId id="327" r:id="rId30"/>
    <p:sldId id="27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26"/>
  </p:normalViewPr>
  <p:slideViewPr>
    <p:cSldViewPr snapToGrid="0">
      <p:cViewPr varScale="1">
        <p:scale>
          <a:sx n="90" d="100"/>
          <a:sy n="90" d="100"/>
        </p:scale>
        <p:origin x="355" y="67"/>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jeti Haricharansai" userId="568a86684104e29a" providerId="LiveId" clId="{348DE6BA-EE09-4961-B216-FF276117A32C}"/>
    <pc:docChg chg="custSel addSld delSld modSld">
      <pc:chgData name="Injeti Haricharansai" userId="568a86684104e29a" providerId="LiveId" clId="{348DE6BA-EE09-4961-B216-FF276117A32C}" dt="2026-10-14T05:36:24.407" v="10" actId="22"/>
      <pc:docMkLst>
        <pc:docMk/>
      </pc:docMkLst>
      <pc:sldChg chg="addSp delSp modSp mod">
        <pc:chgData name="Injeti Haricharansai" userId="568a86684104e29a" providerId="LiveId" clId="{348DE6BA-EE09-4961-B216-FF276117A32C}" dt="2026-10-14T05:28:08.533" v="2" actId="478"/>
        <pc:sldMkLst>
          <pc:docMk/>
          <pc:sldMk cId="1023783487" sldId="271"/>
        </pc:sldMkLst>
        <pc:spChg chg="add del mod">
          <ac:chgData name="Injeti Haricharansai" userId="568a86684104e29a" providerId="LiveId" clId="{348DE6BA-EE09-4961-B216-FF276117A32C}" dt="2026-10-14T05:28:08.533" v="2" actId="478"/>
          <ac:spMkLst>
            <pc:docMk/>
            <pc:sldMk cId="1023783487" sldId="271"/>
            <ac:spMk id="3" creationId="{D7A94044-3FCC-6EEA-5870-109D1BC077DC}"/>
          </ac:spMkLst>
        </pc:spChg>
        <pc:spChg chg="del">
          <ac:chgData name="Injeti Haricharansai" userId="568a86684104e29a" providerId="LiveId" clId="{348DE6BA-EE09-4961-B216-FF276117A32C}" dt="2026-10-14T05:28:06.938" v="1" actId="478"/>
          <ac:spMkLst>
            <pc:docMk/>
            <pc:sldMk cId="1023783487" sldId="271"/>
            <ac:spMk id="15" creationId="{791AF693-3675-52A5-9E8E-C071048A1A4D}"/>
          </ac:spMkLst>
        </pc:spChg>
      </pc:sldChg>
      <pc:sldChg chg="del">
        <pc:chgData name="Injeti Haricharansai" userId="568a86684104e29a" providerId="LiveId" clId="{348DE6BA-EE09-4961-B216-FF276117A32C}" dt="2026-10-14T05:28:00.614" v="0" actId="47"/>
        <pc:sldMkLst>
          <pc:docMk/>
          <pc:sldMk cId="121697942" sldId="309"/>
        </pc:sldMkLst>
      </pc:sldChg>
      <pc:sldChg chg="addSp delSp modSp new mod">
        <pc:chgData name="Injeti Haricharansai" userId="568a86684104e29a" providerId="LiveId" clId="{348DE6BA-EE09-4961-B216-FF276117A32C}" dt="2026-10-14T05:36:06.437" v="7" actId="22"/>
        <pc:sldMkLst>
          <pc:docMk/>
          <pc:sldMk cId="3174782739" sldId="329"/>
        </pc:sldMkLst>
        <pc:spChg chg="del">
          <ac:chgData name="Injeti Haricharansai" userId="568a86684104e29a" providerId="LiveId" clId="{348DE6BA-EE09-4961-B216-FF276117A32C}" dt="2026-10-14T05:35:17.969" v="4" actId="478"/>
          <ac:spMkLst>
            <pc:docMk/>
            <pc:sldMk cId="3174782739" sldId="329"/>
            <ac:spMk id="2" creationId="{F13CFC4E-545E-E535-94F7-A3B6CE5DFB8F}"/>
          </ac:spMkLst>
        </pc:spChg>
        <pc:spChg chg="del">
          <ac:chgData name="Injeti Haricharansai" userId="568a86684104e29a" providerId="LiveId" clId="{348DE6BA-EE09-4961-B216-FF276117A32C}" dt="2026-10-14T05:35:17.969" v="4" actId="478"/>
          <ac:spMkLst>
            <pc:docMk/>
            <pc:sldMk cId="3174782739" sldId="329"/>
            <ac:spMk id="3" creationId="{1D5ED2A9-8991-16F9-220D-0E44BDDCBD6E}"/>
          </ac:spMkLst>
        </pc:spChg>
        <pc:spChg chg="del">
          <ac:chgData name="Injeti Haricharansai" userId="568a86684104e29a" providerId="LiveId" clId="{348DE6BA-EE09-4961-B216-FF276117A32C}" dt="2026-10-14T05:35:17.969" v="4" actId="478"/>
          <ac:spMkLst>
            <pc:docMk/>
            <pc:sldMk cId="3174782739" sldId="329"/>
            <ac:spMk id="4" creationId="{249B8B7A-C465-4722-472D-BD6823DD4C51}"/>
          </ac:spMkLst>
        </pc:spChg>
        <pc:spChg chg="del">
          <ac:chgData name="Injeti Haricharansai" userId="568a86684104e29a" providerId="LiveId" clId="{348DE6BA-EE09-4961-B216-FF276117A32C}" dt="2026-10-14T05:35:17.969" v="4" actId="478"/>
          <ac:spMkLst>
            <pc:docMk/>
            <pc:sldMk cId="3174782739" sldId="329"/>
            <ac:spMk id="5" creationId="{3A509EAE-E85A-C20A-4D6A-8A4FF57DCAB0}"/>
          </ac:spMkLst>
        </pc:spChg>
        <pc:picChg chg="add del mod">
          <ac:chgData name="Injeti Haricharansai" userId="568a86684104e29a" providerId="LiveId" clId="{348DE6BA-EE09-4961-B216-FF276117A32C}" dt="2026-10-14T05:36:02.288" v="6" actId="478"/>
          <ac:picMkLst>
            <pc:docMk/>
            <pc:sldMk cId="3174782739" sldId="329"/>
            <ac:picMk id="7" creationId="{E9440C06-EAA2-58C6-B92D-D25867F2A051}"/>
          </ac:picMkLst>
        </pc:picChg>
        <pc:picChg chg="add">
          <ac:chgData name="Injeti Haricharansai" userId="568a86684104e29a" providerId="LiveId" clId="{348DE6BA-EE09-4961-B216-FF276117A32C}" dt="2026-10-14T05:36:06.437" v="7" actId="22"/>
          <ac:picMkLst>
            <pc:docMk/>
            <pc:sldMk cId="3174782739" sldId="329"/>
            <ac:picMk id="9" creationId="{F4C7D0E2-02CB-6949-0BAB-EA6320BE628A}"/>
          </ac:picMkLst>
        </pc:picChg>
      </pc:sldChg>
      <pc:sldChg chg="addSp delSp new mod">
        <pc:chgData name="Injeti Haricharansai" userId="568a86684104e29a" providerId="LiveId" clId="{348DE6BA-EE09-4961-B216-FF276117A32C}" dt="2026-10-14T05:36:24.407" v="10" actId="22"/>
        <pc:sldMkLst>
          <pc:docMk/>
          <pc:sldMk cId="903532390" sldId="330"/>
        </pc:sldMkLst>
        <pc:spChg chg="del">
          <ac:chgData name="Injeti Haricharansai" userId="568a86684104e29a" providerId="LiveId" clId="{348DE6BA-EE09-4961-B216-FF276117A32C}" dt="2026-10-14T05:36:23.798" v="9" actId="478"/>
          <ac:spMkLst>
            <pc:docMk/>
            <pc:sldMk cId="903532390" sldId="330"/>
            <ac:spMk id="2" creationId="{58215762-C320-93CF-6312-AF4850B91FE4}"/>
          </ac:spMkLst>
        </pc:spChg>
        <pc:spChg chg="del">
          <ac:chgData name="Injeti Haricharansai" userId="568a86684104e29a" providerId="LiveId" clId="{348DE6BA-EE09-4961-B216-FF276117A32C}" dt="2026-10-14T05:36:23.798" v="9" actId="478"/>
          <ac:spMkLst>
            <pc:docMk/>
            <pc:sldMk cId="903532390" sldId="330"/>
            <ac:spMk id="3" creationId="{657C6EA7-2716-2222-8392-FF96C7D628F2}"/>
          </ac:spMkLst>
        </pc:spChg>
        <pc:spChg chg="del">
          <ac:chgData name="Injeti Haricharansai" userId="568a86684104e29a" providerId="LiveId" clId="{348DE6BA-EE09-4961-B216-FF276117A32C}" dt="2026-10-14T05:36:23.798" v="9" actId="478"/>
          <ac:spMkLst>
            <pc:docMk/>
            <pc:sldMk cId="903532390" sldId="330"/>
            <ac:spMk id="4" creationId="{D946FC49-04E3-20F4-B96E-6C6DEFD5AC61}"/>
          </ac:spMkLst>
        </pc:spChg>
        <pc:spChg chg="del">
          <ac:chgData name="Injeti Haricharansai" userId="568a86684104e29a" providerId="LiveId" clId="{348DE6BA-EE09-4961-B216-FF276117A32C}" dt="2026-10-14T05:36:23.798" v="9" actId="478"/>
          <ac:spMkLst>
            <pc:docMk/>
            <pc:sldMk cId="903532390" sldId="330"/>
            <ac:spMk id="5" creationId="{9353B595-449B-15C9-BF99-361039DC0B8F}"/>
          </ac:spMkLst>
        </pc:spChg>
        <pc:picChg chg="add">
          <ac:chgData name="Injeti Haricharansai" userId="568a86684104e29a" providerId="LiveId" clId="{348DE6BA-EE09-4961-B216-FF276117A32C}" dt="2026-10-14T05:36:24.407" v="10" actId="22"/>
          <ac:picMkLst>
            <pc:docMk/>
            <pc:sldMk cId="903532390" sldId="330"/>
            <ac:picMk id="7" creationId="{137559BD-B4C8-99E1-D1F5-656F293C60D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10/14/2026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10/14/2026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35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258EB-5DCB-544D-18A2-3031FE90C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95EF8-01B1-1086-1747-75C83AE0864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2DD682-3010-978D-3998-D7A1D0C0F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F4287C-A10B-73C6-3A6F-DDFE821B34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3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27</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6.wdp"/></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microsoft.com/office/2007/relationships/hdphoto" Target="../media/hdphoto6.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sz="1800" b="0" spc="0" dirty="0"/>
              <a:t>2520090022    K Sriram</a:t>
            </a:r>
            <a:br>
              <a:rPr lang="en-US" sz="1800" b="0" spc="0" dirty="0"/>
            </a:br>
            <a:r>
              <a:rPr lang="en-US" sz="1800" b="0" spc="0" dirty="0"/>
              <a:t>2520090048    Haricharansai</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7" y="417444"/>
            <a:ext cx="9208975" cy="883258"/>
          </a:xfrm>
        </p:spPr>
        <p:txBody>
          <a:bodyPr/>
          <a:lstStyle/>
          <a:p>
            <a:r>
              <a:rPr lang="en-IN" b="1" dirty="0"/>
              <a:t>Fake News Detection Using Deep Learning and Natural Language Processing</a:t>
            </a:r>
            <a:endParaRPr lang="en-US" b="1" dirty="0"/>
          </a:p>
        </p:txBody>
      </p:sp>
      <p:sp>
        <p:nvSpPr>
          <p:cNvPr id="4" name="TextBox 3">
            <a:extLst>
              <a:ext uri="{FF2B5EF4-FFF2-40B4-BE49-F238E27FC236}">
                <a16:creationId xmlns:a16="http://schemas.microsoft.com/office/drawing/2014/main" id="{46F49C70-7630-DB3F-13DA-89EF2F93B838}"/>
              </a:ext>
            </a:extLst>
          </p:cNvPr>
          <p:cNvSpPr txBox="1"/>
          <p:nvPr/>
        </p:nvSpPr>
        <p:spPr>
          <a:xfrm>
            <a:off x="669470" y="2512618"/>
            <a:ext cx="4425043" cy="923330"/>
          </a:xfrm>
          <a:prstGeom prst="rect">
            <a:avLst/>
          </a:prstGeom>
          <a:noFill/>
        </p:spPr>
        <p:txBody>
          <a:bodyPr wrap="square" rtlCol="0">
            <a:spAutoFit/>
          </a:bodyPr>
          <a:lstStyle/>
          <a:p>
            <a:r>
              <a:rPr lang="en-IN" b="1" dirty="0"/>
              <a:t>Guide/Supervisor: </a:t>
            </a:r>
            <a:br>
              <a:rPr lang="en-IN" b="1" dirty="0"/>
            </a:br>
            <a:r>
              <a:rPr lang="en-IN" b="1" dirty="0"/>
              <a:t>Department: CSIT</a:t>
            </a:r>
            <a:br>
              <a:rPr lang="en-IN" b="1" dirty="0"/>
            </a:br>
            <a:r>
              <a:rPr lang="en-IN" b="1" dirty="0"/>
              <a:t>Academic Year: 2026–2027</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4F54-DA82-4616-5B86-91637316C018}"/>
              </a:ext>
            </a:extLst>
          </p:cNvPr>
          <p:cNvSpPr>
            <a:spLocks noGrp="1"/>
          </p:cNvSpPr>
          <p:nvPr>
            <p:ph type="title"/>
          </p:nvPr>
        </p:nvSpPr>
        <p:spPr>
          <a:xfrm>
            <a:off x="6696221" y="640080"/>
            <a:ext cx="5029200" cy="1694906"/>
          </a:xfrm>
        </p:spPr>
        <p:txBody>
          <a:bodyPr/>
          <a:lstStyle/>
          <a:p>
            <a:r>
              <a:rPr lang="en-IN" dirty="0"/>
              <a:t>Introduction</a:t>
            </a:r>
            <a:endParaRPr lang="en-US" dirty="0"/>
          </a:p>
        </p:txBody>
      </p:sp>
      <p:pic>
        <p:nvPicPr>
          <p:cNvPr id="5" name="Picture Placeholder 4" descr="Close-up of skyscrapers">
            <a:extLst>
              <a:ext uri="{FF2B5EF4-FFF2-40B4-BE49-F238E27FC236}">
                <a16:creationId xmlns:a16="http://schemas.microsoft.com/office/drawing/2014/main" id="{CBD79D95-B489-7C39-8BA1-EDA2F8F12E11}"/>
              </a:ext>
            </a:extLst>
          </p:cNvPr>
          <p:cNvPicPr>
            <a:picLocks noGrp="1" noChangeAspect="1"/>
          </p:cNvPicPr>
          <p:nvPr>
            <p:ph type="pic" sz="quarter" idx="10"/>
          </p:nvPr>
        </p:nvPicPr>
        <p:blipFill>
          <a:blip r:embed="rId2"/>
          <a:srcRect t="43" b="43"/>
          <a:stretch/>
        </p:blipFill>
        <p:spPr>
          <a:xfrm>
            <a:off x="1395412" y="653461"/>
            <a:ext cx="4597556" cy="5549900"/>
          </a:xfrm>
        </p:spPr>
      </p:pic>
      <p:sp>
        <p:nvSpPr>
          <p:cNvPr id="4" name="Content Placeholder 3">
            <a:extLst>
              <a:ext uri="{FF2B5EF4-FFF2-40B4-BE49-F238E27FC236}">
                <a16:creationId xmlns:a16="http://schemas.microsoft.com/office/drawing/2014/main" id="{1D44FF4F-87AF-081C-2A21-97173EE4A670}"/>
              </a:ext>
            </a:extLst>
          </p:cNvPr>
          <p:cNvSpPr>
            <a:spLocks noGrp="1"/>
          </p:cNvSpPr>
          <p:nvPr>
            <p:ph idx="1"/>
          </p:nvPr>
        </p:nvSpPr>
        <p:spPr>
          <a:xfrm>
            <a:off x="6501539" y="2530929"/>
            <a:ext cx="5029200" cy="3705279"/>
          </a:xfrm>
        </p:spPr>
        <p:txBody>
          <a:bodyPr/>
          <a:lstStyle/>
          <a:p>
            <a:pPr algn="just"/>
            <a:r>
              <a:rPr lang="en-IN" sz="1400" dirty="0"/>
              <a:t>The rapid growth of digital media and social networking platforms has made news available to millions of people within seconds. However, it has also increased the spread of fabricated, misleading, and manipulated information.</a:t>
            </a:r>
          </a:p>
          <a:p>
            <a:pPr algn="just"/>
            <a:r>
              <a:rPr lang="en-IN" sz="1400" dirty="0"/>
              <a:t>Fake news can influence public opinion, create social instability, damage reputations, and affect important decisions. Manual verification of every news article is time-consuming and requires domain expertise.</a:t>
            </a:r>
          </a:p>
          <a:p>
            <a:pPr algn="just"/>
            <a:r>
              <a:rPr lang="en-IN" sz="1400" dirty="0"/>
              <a:t>This project, FakeLens, uses Natural Language Processing and deep learning to classify news text as either </a:t>
            </a:r>
            <a:r>
              <a:rPr lang="en-IN" sz="1400" b="1" dirty="0"/>
              <a:t>real</a:t>
            </a:r>
            <a:r>
              <a:rPr lang="en-IN" sz="1400" dirty="0"/>
              <a:t> or </a:t>
            </a:r>
            <a:r>
              <a:rPr lang="en-IN" sz="1400" b="1" dirty="0"/>
              <a:t>fake</a:t>
            </a:r>
            <a:r>
              <a:rPr lang="en-IN" sz="1400" dirty="0"/>
              <a:t>. Two neural network architectures, Bi-LSTM and BERT, are trained and compared to identify the most effective approach for fake-news classification.</a:t>
            </a:r>
          </a:p>
        </p:txBody>
      </p:sp>
      <p:sp>
        <p:nvSpPr>
          <p:cNvPr id="15" name="Rectangle 14">
            <a:extLst>
              <a:ext uri="{FF2B5EF4-FFF2-40B4-BE49-F238E27FC236}">
                <a16:creationId xmlns:a16="http://schemas.microsoft.com/office/drawing/2014/main" id="{8D6B33E9-5728-FA5C-0AC2-27407C4E7EF2}"/>
              </a:ext>
              <a:ext uri="{C183D7F6-B498-43B3-948B-1728B52AA6E4}">
                <adec:decorative xmlns:adec="http://schemas.microsoft.com/office/drawing/2017/decorative" val="1"/>
              </a:ext>
            </a:extLst>
          </p:cNvPr>
          <p:cNvSpPr/>
          <p:nvPr/>
        </p:nvSpPr>
        <p:spPr>
          <a:xfrm>
            <a:off x="831720" y="638594"/>
            <a:ext cx="2743200" cy="1336433"/>
          </a:xfrm>
          <a:prstGeom prst="rect">
            <a:avLst/>
          </a:prstGeom>
          <a:solidFill>
            <a:schemeClr val="accent1">
              <a:alpha val="87843"/>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59FDBA0D-C717-B16D-F1F6-BA5D8E090C9D}"/>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alpha val="76078"/>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20" name="Slide Number Placeholder 19">
            <a:extLst>
              <a:ext uri="{FF2B5EF4-FFF2-40B4-BE49-F238E27FC236}">
                <a16:creationId xmlns:a16="http://schemas.microsoft.com/office/drawing/2014/main" id="{7D090D43-FD3C-82CE-3706-B447C067FB18}"/>
              </a:ext>
            </a:extLst>
          </p:cNvPr>
          <p:cNvSpPr>
            <a:spLocks noGrp="1"/>
          </p:cNvSpPr>
          <p:nvPr>
            <p:ph type="sldNum" sz="quarter" idx="13"/>
          </p:nvPr>
        </p:nvSpPr>
        <p:spPr/>
        <p:txBody>
          <a:bodyPr/>
          <a:lstStyle/>
          <a:p>
            <a:fld id="{09A01C0A-2BB6-49E7-91A3-DCB9F9F59583}" type="slidenum">
              <a:rPr lang="en-US" smtClean="0"/>
              <a:pPr/>
              <a:t>2</a:t>
            </a:fld>
            <a:endParaRPr lang="en-US" dirty="0"/>
          </a:p>
        </p:txBody>
      </p:sp>
    </p:spTree>
    <p:extLst>
      <p:ext uri="{BB962C8B-B14F-4D97-AF65-F5344CB8AC3E}">
        <p14:creationId xmlns:p14="http://schemas.microsoft.com/office/powerpoint/2010/main" val="115181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CA0173-29FD-AFA2-C4D4-F4CAD9BFA91B}"/>
              </a:ext>
            </a:extLst>
          </p:cNvPr>
          <p:cNvSpPr>
            <a:spLocks noGrp="1"/>
          </p:cNvSpPr>
          <p:nvPr>
            <p:ph type="title"/>
          </p:nvPr>
        </p:nvSpPr>
        <p:spPr>
          <a:xfrm>
            <a:off x="6096000" y="640080"/>
            <a:ext cx="5690616" cy="1449977"/>
          </a:xfrm>
        </p:spPr>
        <p:txBody>
          <a:bodyPr/>
          <a:lstStyle/>
          <a:p>
            <a:r>
              <a:rPr lang="en-IN" spc="0" dirty="0"/>
              <a:t>Problem Statement</a:t>
            </a:r>
            <a:endParaRPr lang="en-US" spc="0" dirty="0"/>
          </a:p>
        </p:txBody>
      </p:sp>
      <p:pic>
        <p:nvPicPr>
          <p:cNvPr id="14" name="Picture Placeholder 13" descr="Close up of abstract image">
            <a:extLst>
              <a:ext uri="{FF2B5EF4-FFF2-40B4-BE49-F238E27FC236}">
                <a16:creationId xmlns:a16="http://schemas.microsoft.com/office/drawing/2014/main" id="{B603978A-003D-ECA6-02D2-260C6A3BC3F4}"/>
              </a:ext>
            </a:extLst>
          </p:cNvPr>
          <p:cNvPicPr>
            <a:picLocks noGrp="1" noChangeAspect="1"/>
          </p:cNvPicPr>
          <p:nvPr>
            <p:ph type="pic" sz="quarter" idx="11"/>
          </p:nvPr>
        </p:nvPicPr>
        <p:blipFill>
          <a:blip r:embed="rId2"/>
          <a:srcRect l="85" r="85"/>
          <a:stretch/>
        </p:blipFill>
        <p:spPr>
          <a:xfrm>
            <a:off x="832104" y="640080"/>
            <a:ext cx="4727448" cy="5559552"/>
          </a:xfrm>
        </p:spPr>
      </p:pic>
      <p:sp>
        <p:nvSpPr>
          <p:cNvPr id="2" name="Text Placeholder 1">
            <a:extLst>
              <a:ext uri="{FF2B5EF4-FFF2-40B4-BE49-F238E27FC236}">
                <a16:creationId xmlns:a16="http://schemas.microsoft.com/office/drawing/2014/main" id="{C8FC01B0-7BC5-5869-A281-EF11B59BA8A0}"/>
              </a:ext>
            </a:extLst>
          </p:cNvPr>
          <p:cNvSpPr>
            <a:spLocks noGrp="1"/>
          </p:cNvSpPr>
          <p:nvPr>
            <p:ph type="body" idx="1"/>
          </p:nvPr>
        </p:nvSpPr>
        <p:spPr>
          <a:xfrm>
            <a:off x="6256673" y="2400298"/>
            <a:ext cx="5529943" cy="3575957"/>
          </a:xfrm>
        </p:spPr>
        <p:txBody>
          <a:bodyPr anchor="t"/>
          <a:lstStyle/>
          <a:p>
            <a:r>
              <a:rPr lang="en-IN" sz="1400" dirty="0"/>
              <a:t>The main problem addressed by this project is the automatic identification of fake news articles from their textual content.</a:t>
            </a:r>
          </a:p>
          <a:p>
            <a:r>
              <a:rPr lang="en-IN" sz="1400" dirty="0"/>
              <a:t>Existing manual verification methods have the following limitations:</a:t>
            </a:r>
          </a:p>
          <a:p>
            <a:pPr lvl="0"/>
            <a:r>
              <a:rPr lang="en-IN" sz="1400" dirty="0"/>
              <a:t>They require considerable time and human effort.</a:t>
            </a:r>
          </a:p>
          <a:p>
            <a:pPr lvl="0"/>
            <a:r>
              <a:rPr lang="en-IN" sz="1400" dirty="0"/>
              <a:t>They may be affected by personal bias.</a:t>
            </a:r>
          </a:p>
          <a:p>
            <a:pPr lvl="0"/>
            <a:r>
              <a:rPr lang="en-IN" sz="1400" dirty="0"/>
              <a:t>They are difficult to scale for large volumes of news.</a:t>
            </a:r>
          </a:p>
          <a:p>
            <a:pPr lvl="0"/>
            <a:r>
              <a:rPr lang="en-IN" sz="1400" dirty="0"/>
              <a:t>New fake-news patterns may be difficult to recognize.</a:t>
            </a:r>
          </a:p>
          <a:p>
            <a:pPr lvl="0"/>
            <a:r>
              <a:rPr lang="en-IN" sz="1400" dirty="0"/>
              <a:t>Traditional keyword-based methods often fail to understand context.</a:t>
            </a:r>
          </a:p>
          <a:p>
            <a:r>
              <a:rPr lang="en-IN" sz="1400" dirty="0"/>
              <a:t>Journalists, readers, educational institutions, fact-checkers, media organizations, and social-media users are affected by this problem.</a:t>
            </a:r>
          </a:p>
          <a:p>
            <a:endParaRPr lang="en-US" sz="1400" dirty="0"/>
          </a:p>
        </p:txBody>
      </p:sp>
    </p:spTree>
    <p:extLst>
      <p:ext uri="{BB962C8B-B14F-4D97-AF65-F5344CB8AC3E}">
        <p14:creationId xmlns:p14="http://schemas.microsoft.com/office/powerpoint/2010/main" val="612500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03295-3631-2AB6-22F2-A2425E07F27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B5B49F-67F1-D82C-9A18-EAE4316A328C}"/>
              </a:ext>
            </a:extLst>
          </p:cNvPr>
          <p:cNvSpPr>
            <a:spLocks noGrp="1"/>
          </p:cNvSpPr>
          <p:nvPr>
            <p:ph type="title"/>
          </p:nvPr>
        </p:nvSpPr>
        <p:spPr>
          <a:xfrm>
            <a:off x="6337009" y="-84909"/>
            <a:ext cx="5690616" cy="1449977"/>
          </a:xfrm>
        </p:spPr>
        <p:txBody>
          <a:bodyPr/>
          <a:lstStyle/>
          <a:p>
            <a:r>
              <a:rPr lang="en-IN" spc="0" dirty="0"/>
              <a:t>Motivation</a:t>
            </a:r>
            <a:endParaRPr lang="en-US" spc="0" dirty="0"/>
          </a:p>
        </p:txBody>
      </p:sp>
      <p:pic>
        <p:nvPicPr>
          <p:cNvPr id="14" name="Picture Placeholder 13" descr="Close up of abstract image">
            <a:extLst>
              <a:ext uri="{FF2B5EF4-FFF2-40B4-BE49-F238E27FC236}">
                <a16:creationId xmlns:a16="http://schemas.microsoft.com/office/drawing/2014/main" id="{59D295BF-53FB-BCDB-308C-7EF28B5E7074}"/>
              </a:ext>
            </a:extLst>
          </p:cNvPr>
          <p:cNvPicPr>
            <a:picLocks noGrp="1" noChangeAspect="1"/>
          </p:cNvPicPr>
          <p:nvPr>
            <p:ph type="pic" sz="quarter" idx="11"/>
          </p:nvPr>
        </p:nvPicPr>
        <p:blipFill>
          <a:blip r:embed="rId2"/>
          <a:srcRect l="85" r="85"/>
          <a:stretch/>
        </p:blipFill>
        <p:spPr>
          <a:xfrm>
            <a:off x="832104" y="640080"/>
            <a:ext cx="4727448" cy="5559552"/>
          </a:xfrm>
        </p:spPr>
      </p:pic>
      <p:sp>
        <p:nvSpPr>
          <p:cNvPr id="2" name="Text Placeholder 1">
            <a:extLst>
              <a:ext uri="{FF2B5EF4-FFF2-40B4-BE49-F238E27FC236}">
                <a16:creationId xmlns:a16="http://schemas.microsoft.com/office/drawing/2014/main" id="{C6C40837-7EFE-E6C6-7D93-5095AD26DF63}"/>
              </a:ext>
            </a:extLst>
          </p:cNvPr>
          <p:cNvSpPr>
            <a:spLocks noGrp="1"/>
          </p:cNvSpPr>
          <p:nvPr>
            <p:ph type="body" idx="1"/>
          </p:nvPr>
        </p:nvSpPr>
        <p:spPr>
          <a:xfrm>
            <a:off x="6337009" y="1631877"/>
            <a:ext cx="5529943" cy="3575957"/>
          </a:xfrm>
        </p:spPr>
        <p:txBody>
          <a:bodyPr anchor="t"/>
          <a:lstStyle/>
          <a:p>
            <a:r>
              <a:rPr lang="en-IN" sz="1400" dirty="0"/>
              <a:t>The project was selected because misinformation is a serious real-world problem. People frequently receive news through social media, messaging applications, and online platforms without verifying its authenticity.</a:t>
            </a:r>
          </a:p>
          <a:p>
            <a:r>
              <a:rPr lang="en-IN" sz="1400" dirty="0"/>
              <a:t>The motivation behind this project is to:</a:t>
            </a:r>
          </a:p>
          <a:p>
            <a:pPr lvl="0"/>
            <a:r>
              <a:rPr lang="en-IN" sz="1400" dirty="0"/>
              <a:t>Support users in evaluating news content.</a:t>
            </a:r>
          </a:p>
          <a:p>
            <a:pPr lvl="0"/>
            <a:r>
              <a:rPr lang="en-IN" sz="1400" dirty="0"/>
              <a:t>Reduce the time required for preliminary news screening.</a:t>
            </a:r>
          </a:p>
          <a:p>
            <a:pPr lvl="0"/>
            <a:r>
              <a:rPr lang="en-IN" sz="1400" dirty="0"/>
              <a:t>Apply modern NLP techniques to a socially important problem.</a:t>
            </a:r>
          </a:p>
          <a:p>
            <a:pPr lvl="0"/>
            <a:r>
              <a:rPr lang="en-IN" sz="1400" dirty="0"/>
              <a:t>Compare sequential and transformer-based deep-learning models.</a:t>
            </a:r>
          </a:p>
          <a:p>
            <a:pPr lvl="0"/>
            <a:r>
              <a:rPr lang="en-IN" sz="1400" dirty="0"/>
              <a:t>Develop an interactive system that can be used for real-time prediction.</a:t>
            </a:r>
          </a:p>
          <a:p>
            <a:r>
              <a:rPr lang="en-IN" sz="1400" dirty="0"/>
              <a:t>The project is also motivated by the increasing use of artificial intelligence in automated content moderation, journalism, cyber-security, and information verification.</a:t>
            </a:r>
          </a:p>
        </p:txBody>
      </p:sp>
    </p:spTree>
    <p:extLst>
      <p:ext uri="{BB962C8B-B14F-4D97-AF65-F5344CB8AC3E}">
        <p14:creationId xmlns:p14="http://schemas.microsoft.com/office/powerpoint/2010/main" val="3692122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7B0AB-7E6D-621B-43E7-5825A6443DDF}"/>
              </a:ext>
            </a:extLst>
          </p:cNvPr>
          <p:cNvSpPr>
            <a:spLocks noGrp="1"/>
          </p:cNvSpPr>
          <p:nvPr>
            <p:ph type="title"/>
          </p:nvPr>
        </p:nvSpPr>
        <p:spPr>
          <a:xfrm>
            <a:off x="604157" y="849896"/>
            <a:ext cx="7082938" cy="689719"/>
          </a:xfrm>
        </p:spPr>
        <p:txBody>
          <a:bodyPr anchor="b"/>
          <a:lstStyle/>
          <a:p>
            <a:r>
              <a:rPr lang="en-US" spc="0" dirty="0"/>
              <a:t>Objective</a:t>
            </a:r>
          </a:p>
        </p:txBody>
      </p:sp>
      <p:sp>
        <p:nvSpPr>
          <p:cNvPr id="3" name="Text Placeholder 2">
            <a:extLst>
              <a:ext uri="{FF2B5EF4-FFF2-40B4-BE49-F238E27FC236}">
                <a16:creationId xmlns:a16="http://schemas.microsoft.com/office/drawing/2014/main" id="{0F17F915-9766-1FC8-98BD-D9AE3D5B2A55}"/>
              </a:ext>
            </a:extLst>
          </p:cNvPr>
          <p:cNvSpPr>
            <a:spLocks noGrp="1"/>
          </p:cNvSpPr>
          <p:nvPr>
            <p:ph type="body" idx="1"/>
          </p:nvPr>
        </p:nvSpPr>
        <p:spPr>
          <a:xfrm>
            <a:off x="604157" y="1796143"/>
            <a:ext cx="5830191" cy="4494926"/>
          </a:xfrm>
        </p:spPr>
        <p:txBody>
          <a:bodyPr anchor="b"/>
          <a:lstStyle/>
          <a:p>
            <a:r>
              <a:rPr lang="en-IN" sz="1400" b="1" dirty="0"/>
              <a:t>Main Objective</a:t>
            </a:r>
          </a:p>
          <a:p>
            <a:r>
              <a:rPr lang="en-IN" sz="1400" dirty="0"/>
              <a:t>To develop an automated fake-news detection system that classifies news text as real or fake using deep-learning models.</a:t>
            </a:r>
          </a:p>
          <a:p>
            <a:r>
              <a:rPr lang="en-IN" sz="1400" b="1" dirty="0"/>
              <a:t>Specific Objectives</a:t>
            </a:r>
          </a:p>
          <a:p>
            <a:pPr lvl="0"/>
            <a:r>
              <a:rPr lang="en-IN" sz="1400" dirty="0"/>
              <a:t>To collect and preprocess real and fake news articles.</a:t>
            </a:r>
          </a:p>
          <a:p>
            <a:pPr lvl="0"/>
            <a:r>
              <a:rPr lang="en-IN" sz="1400" dirty="0"/>
              <a:t>To remove duplicate, incomplete, and unnecessary textual data.</a:t>
            </a:r>
          </a:p>
          <a:p>
            <a:pPr lvl="0"/>
            <a:r>
              <a:rPr lang="en-IN" sz="1400" dirty="0"/>
              <a:t>To train a Bi-LSTM model for sequential text classification.</a:t>
            </a:r>
          </a:p>
          <a:p>
            <a:pPr lvl="0"/>
            <a:r>
              <a:rPr lang="en-IN" sz="1400" dirty="0"/>
              <a:t>To fine-tune a BERT transformer model for contextual classification.</a:t>
            </a:r>
          </a:p>
          <a:p>
            <a:pPr lvl="0"/>
            <a:r>
              <a:rPr lang="en-IN" sz="1400" dirty="0"/>
              <a:t>To compare the performance of both models.</a:t>
            </a:r>
          </a:p>
          <a:p>
            <a:pPr lvl="0"/>
            <a:r>
              <a:rPr lang="en-IN" sz="1400" dirty="0"/>
              <a:t>To provide a web interface for entering news text and viewing predictions.</a:t>
            </a:r>
          </a:p>
          <a:p>
            <a:pPr lvl="0"/>
            <a:r>
              <a:rPr lang="en-IN" sz="1400" dirty="0"/>
              <a:t>To display model confidence and prediction agreement.</a:t>
            </a:r>
          </a:p>
        </p:txBody>
      </p:sp>
      <p:pic>
        <p:nvPicPr>
          <p:cNvPr id="14" name="Picture Placeholder 14" descr="White modern architecture">
            <a:extLst>
              <a:ext uri="{FF2B5EF4-FFF2-40B4-BE49-F238E27FC236}">
                <a16:creationId xmlns:a16="http://schemas.microsoft.com/office/drawing/2014/main" id="{F96F20C9-F169-573A-32C0-8FA15642A6D6}"/>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0960" y="804672"/>
            <a:ext cx="3475649" cy="5248656"/>
          </a:xfrm>
        </p:spPr>
      </p:pic>
      <p:sp>
        <p:nvSpPr>
          <p:cNvPr id="4" name="Text Placeholder 10">
            <a:extLst>
              <a:ext uri="{FF2B5EF4-FFF2-40B4-BE49-F238E27FC236}">
                <a16:creationId xmlns:a16="http://schemas.microsoft.com/office/drawing/2014/main" id="{104F5115-4987-5C8E-E191-E06A29A553D3}"/>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8" name="Text Placeholder 10">
            <a:extLst>
              <a:ext uri="{FF2B5EF4-FFF2-40B4-BE49-F238E27FC236}">
                <a16:creationId xmlns:a16="http://schemas.microsoft.com/office/drawing/2014/main" id="{1EA969D2-43E7-374C-2BD3-3ED94ADEAE97}"/>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16" name="Slide Number Placeholder 15">
            <a:extLst>
              <a:ext uri="{FF2B5EF4-FFF2-40B4-BE49-F238E27FC236}">
                <a16:creationId xmlns:a16="http://schemas.microsoft.com/office/drawing/2014/main" id="{CCB2D080-C33E-7ABA-4BFC-D6F8F922FF10}"/>
              </a:ext>
            </a:extLst>
          </p:cNvPr>
          <p:cNvSpPr>
            <a:spLocks noGrp="1"/>
          </p:cNvSpPr>
          <p:nvPr>
            <p:ph type="sldNum" sz="quarter" idx="11"/>
          </p:nvPr>
        </p:nvSpPr>
        <p:spPr/>
        <p:txBody>
          <a:bodyPr/>
          <a:lstStyle/>
          <a:p>
            <a:fld id="{09A01C0A-2BB6-49E7-91A3-DCB9F9F59583}" type="slidenum">
              <a:rPr lang="en-US" smtClean="0"/>
              <a:pPr/>
              <a:t>5</a:t>
            </a:fld>
            <a:endParaRPr lang="en-US" dirty="0"/>
          </a:p>
        </p:txBody>
      </p:sp>
    </p:spTree>
    <p:extLst>
      <p:ext uri="{BB962C8B-B14F-4D97-AF65-F5344CB8AC3E}">
        <p14:creationId xmlns:p14="http://schemas.microsoft.com/office/powerpoint/2010/main" val="4278401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469BD-4438-648A-ACE9-06B69CEC165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4A4753-0E1D-7F31-DD6D-BA8DA5B28E28}"/>
              </a:ext>
            </a:extLst>
          </p:cNvPr>
          <p:cNvSpPr>
            <a:spLocks noGrp="1"/>
          </p:cNvSpPr>
          <p:nvPr>
            <p:ph type="title"/>
          </p:nvPr>
        </p:nvSpPr>
        <p:spPr>
          <a:xfrm>
            <a:off x="604157" y="849896"/>
            <a:ext cx="7082938" cy="689719"/>
          </a:xfrm>
        </p:spPr>
        <p:txBody>
          <a:bodyPr anchor="b"/>
          <a:lstStyle/>
          <a:p>
            <a:r>
              <a:rPr lang="en-US" spc="0" dirty="0"/>
              <a:t>Objective</a:t>
            </a:r>
          </a:p>
        </p:txBody>
      </p:sp>
      <p:sp>
        <p:nvSpPr>
          <p:cNvPr id="3" name="Text Placeholder 2">
            <a:extLst>
              <a:ext uri="{FF2B5EF4-FFF2-40B4-BE49-F238E27FC236}">
                <a16:creationId xmlns:a16="http://schemas.microsoft.com/office/drawing/2014/main" id="{528763BC-933E-621A-53AE-85ACFAD66B0B}"/>
              </a:ext>
            </a:extLst>
          </p:cNvPr>
          <p:cNvSpPr>
            <a:spLocks noGrp="1"/>
          </p:cNvSpPr>
          <p:nvPr>
            <p:ph type="body" idx="1"/>
          </p:nvPr>
        </p:nvSpPr>
        <p:spPr>
          <a:xfrm>
            <a:off x="604157" y="1515070"/>
            <a:ext cx="5830191" cy="5011562"/>
          </a:xfrm>
        </p:spPr>
        <p:txBody>
          <a:bodyPr anchor="b"/>
          <a:lstStyle/>
          <a:p>
            <a:pPr>
              <a:lnSpc>
                <a:spcPct val="100000"/>
              </a:lnSpc>
            </a:pPr>
            <a:endParaRPr lang="en-IN" sz="1400" b="1" dirty="0"/>
          </a:p>
          <a:p>
            <a:pPr>
              <a:lnSpc>
                <a:spcPct val="100000"/>
              </a:lnSpc>
            </a:pPr>
            <a:r>
              <a:rPr lang="en-IN" sz="1400" dirty="0"/>
              <a:t>Traditional fake-news detection systems commonly use:</a:t>
            </a:r>
          </a:p>
          <a:p>
            <a:pPr lvl="0">
              <a:lnSpc>
                <a:spcPct val="100000"/>
              </a:lnSpc>
            </a:pPr>
            <a:r>
              <a:rPr lang="en-IN" sz="1400" dirty="0"/>
              <a:t>Manual fact-checking.</a:t>
            </a:r>
          </a:p>
          <a:p>
            <a:pPr lvl="0">
              <a:lnSpc>
                <a:spcPct val="100000"/>
              </a:lnSpc>
            </a:pPr>
            <a:r>
              <a:rPr lang="en-IN" sz="1400" dirty="0"/>
              <a:t>Keyword matching.</a:t>
            </a:r>
          </a:p>
          <a:p>
            <a:pPr lvl="0">
              <a:lnSpc>
                <a:spcPct val="100000"/>
              </a:lnSpc>
            </a:pPr>
            <a:r>
              <a:rPr lang="en-IN" sz="1400" dirty="0"/>
              <a:t>Rule-based approaches.</a:t>
            </a:r>
          </a:p>
          <a:p>
            <a:pPr lvl="0">
              <a:lnSpc>
                <a:spcPct val="100000"/>
              </a:lnSpc>
            </a:pPr>
            <a:r>
              <a:rPr lang="en-IN" sz="1400" dirty="0"/>
              <a:t>Bag-of-Words representations.</a:t>
            </a:r>
          </a:p>
          <a:p>
            <a:pPr lvl="0">
              <a:lnSpc>
                <a:spcPct val="100000"/>
              </a:lnSpc>
            </a:pPr>
            <a:r>
              <a:rPr lang="en-IN" sz="1400" dirty="0"/>
              <a:t>TF-IDF with machine-learning classifiers.</a:t>
            </a:r>
          </a:p>
          <a:p>
            <a:pPr lvl="0">
              <a:lnSpc>
                <a:spcPct val="100000"/>
              </a:lnSpc>
            </a:pPr>
            <a:r>
              <a:rPr lang="en-IN" sz="1400" dirty="0"/>
              <a:t>Logistic Regression, Naive Bayes, or Support Vector Machines.</a:t>
            </a:r>
          </a:p>
          <a:p>
            <a:pPr>
              <a:lnSpc>
                <a:spcPct val="100000"/>
              </a:lnSpc>
            </a:pPr>
            <a:r>
              <a:rPr lang="en-IN" sz="1400" dirty="0"/>
              <a:t>These approaches can perform well on simple datasets but have limitations:</a:t>
            </a:r>
          </a:p>
          <a:p>
            <a:pPr lvl="0">
              <a:lnSpc>
                <a:spcPct val="100000"/>
              </a:lnSpc>
            </a:pPr>
            <a:r>
              <a:rPr lang="en-IN" sz="1400" dirty="0"/>
              <a:t>They have limited understanding of sentence context.</a:t>
            </a:r>
          </a:p>
          <a:p>
            <a:pPr lvl="0">
              <a:lnSpc>
                <a:spcPct val="100000"/>
              </a:lnSpc>
            </a:pPr>
            <a:r>
              <a:rPr lang="en-IN" sz="1400" dirty="0"/>
              <a:t>They may fail when the same words are used in different meanings.</a:t>
            </a:r>
          </a:p>
          <a:p>
            <a:pPr lvl="0">
              <a:lnSpc>
                <a:spcPct val="100000"/>
              </a:lnSpc>
            </a:pPr>
            <a:r>
              <a:rPr lang="en-IN" sz="1400" dirty="0"/>
              <a:t>They struggle with long-distance relationships between words.</a:t>
            </a:r>
          </a:p>
          <a:p>
            <a:pPr lvl="0">
              <a:lnSpc>
                <a:spcPct val="100000"/>
              </a:lnSpc>
            </a:pPr>
            <a:r>
              <a:rPr lang="en-IN" sz="1400" dirty="0"/>
              <a:t>They require manual feature engineering.</a:t>
            </a:r>
          </a:p>
          <a:p>
            <a:pPr lvl="0">
              <a:lnSpc>
                <a:spcPct val="100000"/>
              </a:lnSpc>
            </a:pPr>
            <a:r>
              <a:rPr lang="en-IN" sz="1400" dirty="0"/>
              <a:t>They may not generalize well to new writing styles.</a:t>
            </a:r>
          </a:p>
        </p:txBody>
      </p:sp>
      <p:pic>
        <p:nvPicPr>
          <p:cNvPr id="14" name="Picture Placeholder 14" descr="White modern architecture">
            <a:extLst>
              <a:ext uri="{FF2B5EF4-FFF2-40B4-BE49-F238E27FC236}">
                <a16:creationId xmlns:a16="http://schemas.microsoft.com/office/drawing/2014/main" id="{F5BA2485-3511-9E36-07E9-83D4B2327937}"/>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0960" y="804672"/>
            <a:ext cx="3475649" cy="5248656"/>
          </a:xfrm>
        </p:spPr>
      </p:pic>
      <p:sp>
        <p:nvSpPr>
          <p:cNvPr id="4" name="Text Placeholder 10">
            <a:extLst>
              <a:ext uri="{FF2B5EF4-FFF2-40B4-BE49-F238E27FC236}">
                <a16:creationId xmlns:a16="http://schemas.microsoft.com/office/drawing/2014/main" id="{6E701576-DFB8-CA76-33AB-6596340053F6}"/>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8" name="Text Placeholder 10">
            <a:extLst>
              <a:ext uri="{FF2B5EF4-FFF2-40B4-BE49-F238E27FC236}">
                <a16:creationId xmlns:a16="http://schemas.microsoft.com/office/drawing/2014/main" id="{878E3061-9955-4877-51B6-FEDA491103B2}"/>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16" name="Slide Number Placeholder 15">
            <a:extLst>
              <a:ext uri="{FF2B5EF4-FFF2-40B4-BE49-F238E27FC236}">
                <a16:creationId xmlns:a16="http://schemas.microsoft.com/office/drawing/2014/main" id="{3B3B4313-77FC-752E-68D7-9F6FBB809225}"/>
              </a:ext>
            </a:extLst>
          </p:cNvPr>
          <p:cNvSpPr>
            <a:spLocks noGrp="1"/>
          </p:cNvSpPr>
          <p:nvPr>
            <p:ph type="sldNum" sz="quarter" idx="11"/>
          </p:nvPr>
        </p:nvSpPr>
        <p:spPr/>
        <p:txBody>
          <a:bodyPr/>
          <a:lstStyle/>
          <a:p>
            <a:fld id="{09A01C0A-2BB6-49E7-91A3-DCB9F9F59583}" type="slidenum">
              <a:rPr lang="en-US" smtClean="0"/>
              <a:pPr/>
              <a:t>6</a:t>
            </a:fld>
            <a:endParaRPr lang="en-US" dirty="0"/>
          </a:p>
        </p:txBody>
      </p:sp>
    </p:spTree>
    <p:extLst>
      <p:ext uri="{BB962C8B-B14F-4D97-AF65-F5344CB8AC3E}">
        <p14:creationId xmlns:p14="http://schemas.microsoft.com/office/powerpoint/2010/main" val="3649574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a:xfrm>
            <a:off x="846879" y="868680"/>
            <a:ext cx="5248656" cy="470263"/>
          </a:xfrm>
        </p:spPr>
        <p:txBody>
          <a:bodyPr anchor="t"/>
          <a:lstStyle/>
          <a:p>
            <a:r>
              <a:rPr lang="en-US" spc="0" dirty="0"/>
              <a:t>Proposed System</a:t>
            </a:r>
          </a:p>
        </p:txBody>
      </p:sp>
      <p:sp>
        <p:nvSpPr>
          <p:cNvPr id="10" name="Content Placeholder 9">
            <a:extLst>
              <a:ext uri="{FF2B5EF4-FFF2-40B4-BE49-F238E27FC236}">
                <a16:creationId xmlns:a16="http://schemas.microsoft.com/office/drawing/2014/main" id="{6716CAA9-374B-601A-A4B6-6F92CD182236}"/>
              </a:ext>
            </a:extLst>
          </p:cNvPr>
          <p:cNvSpPr>
            <a:spLocks noGrp="1"/>
          </p:cNvSpPr>
          <p:nvPr>
            <p:ph sz="half" idx="12"/>
          </p:nvPr>
        </p:nvSpPr>
        <p:spPr>
          <a:xfrm>
            <a:off x="846879" y="1717112"/>
            <a:ext cx="10566792" cy="4797987"/>
          </a:xfrm>
        </p:spPr>
        <p:txBody>
          <a:bodyPr>
            <a:normAutofit fontScale="85000" lnSpcReduction="20000"/>
          </a:bodyPr>
          <a:lstStyle/>
          <a:p>
            <a:r>
              <a:rPr lang="en-IN" cap="none" dirty="0"/>
              <a:t>The proposed system uses two deep-learning architectures:</a:t>
            </a:r>
          </a:p>
          <a:p>
            <a:pPr lvl="0"/>
            <a:r>
              <a:rPr lang="en-IN" cap="none" dirty="0"/>
              <a:t>1. Bidirectional long short-term memory (BI - LSTM)</a:t>
            </a:r>
          </a:p>
          <a:p>
            <a:pPr lvl="0"/>
            <a:r>
              <a:rPr lang="en-IN" cap="none" dirty="0"/>
              <a:t>2. BERT-base-uncased</a:t>
            </a:r>
          </a:p>
          <a:p>
            <a:r>
              <a:rPr lang="en-IN" cap="none" dirty="0"/>
              <a:t>The system accepts news text as input, cleans and tokenizes it, and sends it to the selected model. The model predicts whether the input is real or fake and returns a confidence score.</a:t>
            </a:r>
          </a:p>
          <a:p>
            <a:r>
              <a:rPr lang="en-IN" cap="none" dirty="0"/>
              <a:t>The system also supports comparing both models simultaneously. This helps identify whether the two models agree or produce different predictions.</a:t>
            </a:r>
          </a:p>
          <a:p>
            <a:r>
              <a:rPr lang="en-IN" cap="none" dirty="0"/>
              <a:t>The proposed system addresses existing limitations by:</a:t>
            </a:r>
          </a:p>
          <a:p>
            <a:pPr lvl="0"/>
            <a:r>
              <a:rPr lang="en-IN" cap="none" dirty="0"/>
              <a:t>Learning features automatically from text.</a:t>
            </a:r>
          </a:p>
          <a:p>
            <a:pPr lvl="0"/>
            <a:r>
              <a:rPr lang="en-IN" cap="none" dirty="0"/>
              <a:t>Capturing word order and contextual relationships.</a:t>
            </a:r>
          </a:p>
          <a:p>
            <a:pPr lvl="0"/>
            <a:r>
              <a:rPr lang="en-IN" cap="none" dirty="0"/>
              <a:t>Supporting real-time inference.</a:t>
            </a:r>
          </a:p>
          <a:p>
            <a:pPr lvl="0"/>
            <a:r>
              <a:rPr lang="en-IN" cap="none" dirty="0"/>
              <a:t>Providing an interactive web interface.</a:t>
            </a:r>
          </a:p>
          <a:p>
            <a:pPr lvl="0"/>
            <a:r>
              <a:rPr lang="en-IN" cap="none" dirty="0"/>
              <a:t>Allowing direct comparison between two NLP architectures.</a:t>
            </a:r>
          </a:p>
          <a:p>
            <a:endParaRPr lang="en-IN" cap="none" dirty="0"/>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7</a:t>
            </a:fld>
            <a:endParaRPr lang="en-US" dirty="0"/>
          </a:p>
        </p:txBody>
      </p:sp>
    </p:spTree>
    <p:extLst>
      <p:ext uri="{BB962C8B-B14F-4D97-AF65-F5344CB8AC3E}">
        <p14:creationId xmlns:p14="http://schemas.microsoft.com/office/powerpoint/2010/main" val="1323760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BDAF1-BE28-7202-4BE1-DEE598CFAFBA}"/>
              </a:ext>
            </a:extLst>
          </p:cNvPr>
          <p:cNvSpPr>
            <a:spLocks noGrp="1"/>
          </p:cNvSpPr>
          <p:nvPr>
            <p:ph type="title"/>
          </p:nvPr>
        </p:nvSpPr>
        <p:spPr>
          <a:xfrm>
            <a:off x="846878" y="868680"/>
            <a:ext cx="5782521" cy="486591"/>
          </a:xfrm>
        </p:spPr>
        <p:txBody>
          <a:bodyPr/>
          <a:lstStyle/>
          <a:p>
            <a:r>
              <a:rPr lang="en-IN" spc="0" dirty="0"/>
              <a:t>System Architecture</a:t>
            </a:r>
          </a:p>
        </p:txBody>
      </p:sp>
      <p:sp>
        <p:nvSpPr>
          <p:cNvPr id="6" name="Slide Number Placeholder 5">
            <a:extLst>
              <a:ext uri="{FF2B5EF4-FFF2-40B4-BE49-F238E27FC236}">
                <a16:creationId xmlns:a16="http://schemas.microsoft.com/office/drawing/2014/main" id="{8EA7FAD0-5FE9-A7ED-9DCF-39284959F821}"/>
              </a:ext>
            </a:extLst>
          </p:cNvPr>
          <p:cNvSpPr>
            <a:spLocks noGrp="1"/>
          </p:cNvSpPr>
          <p:nvPr>
            <p:ph type="sldNum" sz="quarter" idx="11"/>
          </p:nvPr>
        </p:nvSpPr>
        <p:spPr/>
        <p:txBody>
          <a:bodyPr/>
          <a:lstStyle/>
          <a:p>
            <a:fld id="{09A01C0A-2BB6-49E7-91A3-DCB9F9F59583}" type="slidenum">
              <a:rPr lang="en-US" smtClean="0"/>
              <a:pPr/>
              <a:t>8</a:t>
            </a:fld>
            <a:endParaRPr lang="en-US" dirty="0"/>
          </a:p>
        </p:txBody>
      </p:sp>
      <p:pic>
        <p:nvPicPr>
          <p:cNvPr id="8" name="Picture 7">
            <a:extLst>
              <a:ext uri="{FF2B5EF4-FFF2-40B4-BE49-F238E27FC236}">
                <a16:creationId xmlns:a16="http://schemas.microsoft.com/office/drawing/2014/main" id="{B4AA06B6-AF53-D566-3C18-68B70D9162DA}"/>
              </a:ext>
            </a:extLst>
          </p:cNvPr>
          <p:cNvPicPr>
            <a:picLocks noChangeAspect="1"/>
          </p:cNvPicPr>
          <p:nvPr/>
        </p:nvPicPr>
        <p:blipFill>
          <a:blip r:embed="rId2"/>
          <a:stretch>
            <a:fillRect/>
          </a:stretch>
        </p:blipFill>
        <p:spPr>
          <a:xfrm>
            <a:off x="480778" y="1355270"/>
            <a:ext cx="10998208" cy="5340299"/>
          </a:xfrm>
          <a:prstGeom prst="rect">
            <a:avLst/>
          </a:prstGeom>
        </p:spPr>
      </p:pic>
    </p:spTree>
    <p:extLst>
      <p:ext uri="{BB962C8B-B14F-4D97-AF65-F5344CB8AC3E}">
        <p14:creationId xmlns:p14="http://schemas.microsoft.com/office/powerpoint/2010/main" val="1324599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933B-0F5D-36ED-C4C6-E7389C18C945}"/>
              </a:ext>
            </a:extLst>
          </p:cNvPr>
          <p:cNvSpPr>
            <a:spLocks noGrp="1"/>
          </p:cNvSpPr>
          <p:nvPr>
            <p:ph type="title"/>
          </p:nvPr>
        </p:nvSpPr>
        <p:spPr>
          <a:xfrm>
            <a:off x="847343" y="542110"/>
            <a:ext cx="8198685" cy="502919"/>
          </a:xfrm>
        </p:spPr>
        <p:txBody>
          <a:bodyPr/>
          <a:lstStyle/>
          <a:p>
            <a:r>
              <a:rPr lang="en-IN" spc="0" dirty="0"/>
              <a:t>Methodology and Workflow</a:t>
            </a:r>
          </a:p>
        </p:txBody>
      </p:sp>
      <p:sp>
        <p:nvSpPr>
          <p:cNvPr id="6" name="Slide Number Placeholder 5">
            <a:extLst>
              <a:ext uri="{FF2B5EF4-FFF2-40B4-BE49-F238E27FC236}">
                <a16:creationId xmlns:a16="http://schemas.microsoft.com/office/drawing/2014/main" id="{12908478-72C3-2283-686C-46D3F0188161}"/>
              </a:ext>
            </a:extLst>
          </p:cNvPr>
          <p:cNvSpPr>
            <a:spLocks noGrp="1"/>
          </p:cNvSpPr>
          <p:nvPr>
            <p:ph type="sldNum" sz="quarter" idx="11"/>
          </p:nvPr>
        </p:nvSpPr>
        <p:spPr/>
        <p:txBody>
          <a:bodyPr/>
          <a:lstStyle/>
          <a:p>
            <a:fld id="{09A01C0A-2BB6-49E7-91A3-DCB9F9F59583}" type="slidenum">
              <a:rPr lang="en-US" smtClean="0"/>
              <a:pPr/>
              <a:t>9</a:t>
            </a:fld>
            <a:endParaRPr lang="en-US" dirty="0"/>
          </a:p>
        </p:txBody>
      </p:sp>
      <p:sp>
        <p:nvSpPr>
          <p:cNvPr id="7" name="TextBox 6">
            <a:extLst>
              <a:ext uri="{FF2B5EF4-FFF2-40B4-BE49-F238E27FC236}">
                <a16:creationId xmlns:a16="http://schemas.microsoft.com/office/drawing/2014/main" id="{8BA1519E-DA3D-8E0E-4C5E-38A1B9B5A56C}"/>
              </a:ext>
            </a:extLst>
          </p:cNvPr>
          <p:cNvSpPr txBox="1"/>
          <p:nvPr/>
        </p:nvSpPr>
        <p:spPr>
          <a:xfrm>
            <a:off x="847343" y="1219221"/>
            <a:ext cx="10517807" cy="5355312"/>
          </a:xfrm>
          <a:prstGeom prst="rect">
            <a:avLst/>
          </a:prstGeom>
          <a:noFill/>
        </p:spPr>
        <p:txBody>
          <a:bodyPr wrap="square" rtlCol="0">
            <a:spAutoFit/>
          </a:bodyPr>
          <a:lstStyle/>
          <a:p>
            <a:r>
              <a:rPr lang="en-IN" dirty="0"/>
              <a:t>The project follows these steps:</a:t>
            </a:r>
          </a:p>
          <a:p>
            <a:pPr marL="342900" lvl="0" indent="-342900">
              <a:buFont typeface="+mj-lt"/>
              <a:buAutoNum type="arabicPeriod"/>
            </a:pPr>
            <a:r>
              <a:rPr lang="en-IN" dirty="0"/>
              <a:t>Collect real and fake news articles from the PolyglotFakeFacts dataset.</a:t>
            </a:r>
          </a:p>
          <a:p>
            <a:pPr marL="342900" lvl="0" indent="-342900">
              <a:buFont typeface="+mj-lt"/>
              <a:buAutoNum type="arabicPeriod"/>
            </a:pPr>
            <a:r>
              <a:rPr lang="en-IN" dirty="0"/>
              <a:t>Load the Excel files into data frames.</a:t>
            </a:r>
          </a:p>
          <a:p>
            <a:pPr marL="342900" lvl="0" indent="-342900">
              <a:buFont typeface="+mj-lt"/>
              <a:buAutoNum type="arabicPeriod"/>
            </a:pPr>
            <a:r>
              <a:rPr lang="en-IN" dirty="0"/>
              <a:t>Select the appropriate text and label columns.</a:t>
            </a:r>
          </a:p>
          <a:p>
            <a:pPr marL="342900" lvl="0" indent="-342900">
              <a:buFont typeface="+mj-lt"/>
              <a:buAutoNum type="arabicPeriod"/>
            </a:pPr>
            <a:r>
              <a:rPr lang="en-IN" dirty="0"/>
              <a:t>Remove missing and very short text samples.</a:t>
            </a:r>
          </a:p>
          <a:p>
            <a:pPr marL="342900" lvl="0" indent="-342900">
              <a:buFont typeface="+mj-lt"/>
              <a:buAutoNum type="arabicPeriod"/>
            </a:pPr>
            <a:r>
              <a:rPr lang="en-IN" dirty="0"/>
              <a:t>Normalize whitespace and remove unnecessary patterns.</a:t>
            </a:r>
          </a:p>
          <a:p>
            <a:pPr marL="342900" lvl="0" indent="-342900">
              <a:buFont typeface="+mj-lt"/>
              <a:buAutoNum type="arabicPeriod"/>
            </a:pPr>
            <a:r>
              <a:rPr lang="en-IN" dirty="0"/>
              <a:t>Convert labels into numerical values:</a:t>
            </a:r>
          </a:p>
          <a:p>
            <a:pPr marL="800100" lvl="1" indent="-342900">
              <a:buFont typeface="+mj-lt"/>
              <a:buAutoNum type="arabicPeriod"/>
            </a:pPr>
            <a:r>
              <a:rPr lang="en-IN" dirty="0"/>
              <a:t>Real = 0</a:t>
            </a:r>
          </a:p>
          <a:p>
            <a:pPr marL="800100" lvl="1" indent="-342900">
              <a:buFont typeface="+mj-lt"/>
              <a:buAutoNum type="arabicPeriod"/>
            </a:pPr>
            <a:r>
              <a:rPr lang="en-IN" dirty="0"/>
              <a:t>Fake = 1</a:t>
            </a:r>
          </a:p>
          <a:p>
            <a:pPr marL="342900" lvl="0" indent="-342900">
              <a:buFont typeface="+mj-lt"/>
              <a:buAutoNum type="arabicPeriod"/>
            </a:pPr>
            <a:r>
              <a:rPr lang="en-IN" dirty="0"/>
              <a:t>Remove duplicate news articles.</a:t>
            </a:r>
          </a:p>
          <a:p>
            <a:pPr marL="342900" lvl="0" indent="-342900">
              <a:buFont typeface="+mj-lt"/>
              <a:buAutoNum type="arabicPeriod"/>
            </a:pPr>
            <a:r>
              <a:rPr lang="en-IN" dirty="0"/>
              <a:t>Split the data into training, validation, and testing sets.</a:t>
            </a:r>
          </a:p>
          <a:p>
            <a:pPr marL="342900" lvl="0" indent="-342900">
              <a:buFont typeface="+mj-lt"/>
              <a:buAutoNum type="arabicPeriod"/>
            </a:pPr>
            <a:r>
              <a:rPr lang="en-IN" dirty="0"/>
              <a:t>Train the Bi-LSTM model.</a:t>
            </a:r>
          </a:p>
          <a:p>
            <a:pPr marL="342900" lvl="0" indent="-342900">
              <a:buFont typeface="+mj-lt"/>
              <a:buAutoNum type="arabicPeriod"/>
            </a:pPr>
            <a:r>
              <a:rPr lang="en-IN" dirty="0"/>
              <a:t>Fine-tune the BERT model.</a:t>
            </a:r>
          </a:p>
          <a:p>
            <a:pPr marL="342900" lvl="0" indent="-342900">
              <a:buFont typeface="+mj-lt"/>
              <a:buAutoNum type="arabicPeriod"/>
            </a:pPr>
            <a:r>
              <a:rPr lang="en-IN" dirty="0"/>
              <a:t>Evaluate both models on the test dataset.</a:t>
            </a:r>
          </a:p>
          <a:p>
            <a:pPr marL="342900" lvl="0" indent="-342900">
              <a:buFont typeface="+mj-lt"/>
              <a:buAutoNum type="arabicPeriod"/>
            </a:pPr>
            <a:r>
              <a:rPr lang="en-IN" dirty="0"/>
              <a:t>Save trained models and metrics.</a:t>
            </a:r>
          </a:p>
          <a:p>
            <a:pPr marL="342900" lvl="0" indent="-342900">
              <a:buFont typeface="+mj-lt"/>
              <a:buAutoNum type="arabicPeriod"/>
            </a:pPr>
            <a:r>
              <a:rPr lang="en-IN" dirty="0"/>
              <a:t>Load the models through the FastAPI backend.</a:t>
            </a:r>
          </a:p>
          <a:p>
            <a:pPr marL="342900" lvl="0" indent="-342900">
              <a:buFont typeface="+mj-lt"/>
              <a:buAutoNum type="arabicPeriod"/>
            </a:pPr>
            <a:r>
              <a:rPr lang="en-IN" dirty="0"/>
              <a:t>Connect the backend to the React frontend.</a:t>
            </a:r>
          </a:p>
          <a:p>
            <a:pPr marL="342900" lvl="0" indent="-342900">
              <a:buFont typeface="+mj-lt"/>
              <a:buAutoNum type="arabicPeriod"/>
            </a:pPr>
            <a:r>
              <a:rPr lang="en-IN" dirty="0"/>
              <a:t>Display classification results and confidence scores</a:t>
            </a:r>
          </a:p>
          <a:p>
            <a:endParaRPr lang="en-IN" dirty="0"/>
          </a:p>
        </p:txBody>
      </p:sp>
    </p:spTree>
    <p:extLst>
      <p:ext uri="{BB962C8B-B14F-4D97-AF65-F5344CB8AC3E}">
        <p14:creationId xmlns:p14="http://schemas.microsoft.com/office/powerpoint/2010/main" val="1149000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11E46-FBDF-42DA-2DE0-32780B1C5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51E20-AA06-D7C6-4E21-EEBCDF593DFB}"/>
              </a:ext>
            </a:extLst>
          </p:cNvPr>
          <p:cNvSpPr>
            <a:spLocks noGrp="1"/>
          </p:cNvSpPr>
          <p:nvPr>
            <p:ph type="title"/>
          </p:nvPr>
        </p:nvSpPr>
        <p:spPr>
          <a:xfrm>
            <a:off x="847344" y="440871"/>
            <a:ext cx="5248656" cy="604159"/>
          </a:xfrm>
        </p:spPr>
        <p:txBody>
          <a:bodyPr/>
          <a:lstStyle/>
          <a:p>
            <a:r>
              <a:rPr lang="en-IN" spc="0" dirty="0"/>
              <a:t>Technology Stack</a:t>
            </a:r>
          </a:p>
        </p:txBody>
      </p:sp>
      <p:sp>
        <p:nvSpPr>
          <p:cNvPr id="6" name="Slide Number Placeholder 5">
            <a:extLst>
              <a:ext uri="{FF2B5EF4-FFF2-40B4-BE49-F238E27FC236}">
                <a16:creationId xmlns:a16="http://schemas.microsoft.com/office/drawing/2014/main" id="{236ACF8A-2A88-A6EB-7DC5-1F85D67B0541}"/>
              </a:ext>
            </a:extLst>
          </p:cNvPr>
          <p:cNvSpPr>
            <a:spLocks noGrp="1"/>
          </p:cNvSpPr>
          <p:nvPr>
            <p:ph type="sldNum" sz="quarter" idx="11"/>
          </p:nvPr>
        </p:nvSpPr>
        <p:spPr/>
        <p:txBody>
          <a:bodyPr/>
          <a:lstStyle/>
          <a:p>
            <a:fld id="{09A01C0A-2BB6-49E7-91A3-DCB9F9F59583}" type="slidenum">
              <a:rPr lang="en-US" smtClean="0"/>
              <a:pPr/>
              <a:t>10</a:t>
            </a:fld>
            <a:endParaRPr lang="en-US" dirty="0"/>
          </a:p>
        </p:txBody>
      </p:sp>
      <p:pic>
        <p:nvPicPr>
          <p:cNvPr id="4" name="Picture 3">
            <a:extLst>
              <a:ext uri="{FF2B5EF4-FFF2-40B4-BE49-F238E27FC236}">
                <a16:creationId xmlns:a16="http://schemas.microsoft.com/office/drawing/2014/main" id="{89F872F5-B6EE-FBBB-8FB6-F11661EF5A23}"/>
              </a:ext>
            </a:extLst>
          </p:cNvPr>
          <p:cNvPicPr>
            <a:picLocks noChangeAspect="1"/>
          </p:cNvPicPr>
          <p:nvPr/>
        </p:nvPicPr>
        <p:blipFill>
          <a:blip r:embed="rId2"/>
          <a:srcRect l="2303" t="3371" r="1764" b="3077"/>
          <a:stretch>
            <a:fillRect/>
          </a:stretch>
        </p:blipFill>
        <p:spPr>
          <a:xfrm>
            <a:off x="847344" y="992001"/>
            <a:ext cx="10337727" cy="5686386"/>
          </a:xfrm>
          <a:prstGeom prst="rect">
            <a:avLst/>
          </a:prstGeom>
        </p:spPr>
      </p:pic>
    </p:spTree>
    <p:extLst>
      <p:ext uri="{BB962C8B-B14F-4D97-AF65-F5344CB8AC3E}">
        <p14:creationId xmlns:p14="http://schemas.microsoft.com/office/powerpoint/2010/main" val="3605310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097A-775B-08E5-6C81-5BA1BCE9ACD7}"/>
              </a:ext>
            </a:extLst>
          </p:cNvPr>
          <p:cNvSpPr>
            <a:spLocks noGrp="1"/>
          </p:cNvSpPr>
          <p:nvPr>
            <p:ph type="title"/>
          </p:nvPr>
        </p:nvSpPr>
        <p:spPr>
          <a:xfrm>
            <a:off x="850392" y="0"/>
            <a:ext cx="10122632" cy="832757"/>
          </a:xfrm>
        </p:spPr>
        <p:txBody>
          <a:bodyPr/>
          <a:lstStyle/>
          <a:p>
            <a:r>
              <a:rPr lang="en-IN" spc="0" dirty="0"/>
              <a:t>System Modules</a:t>
            </a:r>
            <a:endParaRPr lang="en-US" spc="0" dirty="0"/>
          </a:p>
        </p:txBody>
      </p:sp>
      <p:sp>
        <p:nvSpPr>
          <p:cNvPr id="3" name="Content Placeholder 2">
            <a:extLst>
              <a:ext uri="{FF2B5EF4-FFF2-40B4-BE49-F238E27FC236}">
                <a16:creationId xmlns:a16="http://schemas.microsoft.com/office/drawing/2014/main" id="{58037C43-2A58-4D8F-4B88-9D5CBE782944}"/>
              </a:ext>
            </a:extLst>
          </p:cNvPr>
          <p:cNvSpPr>
            <a:spLocks noGrp="1"/>
          </p:cNvSpPr>
          <p:nvPr>
            <p:ph sz="half" idx="2"/>
          </p:nvPr>
        </p:nvSpPr>
        <p:spPr>
          <a:xfrm>
            <a:off x="850392" y="1045029"/>
            <a:ext cx="10085832" cy="5470071"/>
          </a:xfrm>
        </p:spPr>
        <p:txBody>
          <a:bodyPr/>
          <a:lstStyle/>
          <a:p>
            <a:r>
              <a:rPr lang="en-IN" b="1" dirty="0"/>
              <a:t>11.1User Interface Module</a:t>
            </a:r>
          </a:p>
          <a:p>
            <a:pPr>
              <a:lnSpc>
                <a:spcPct val="100000"/>
              </a:lnSpc>
            </a:pPr>
            <a:r>
              <a:rPr lang="en-IN" dirty="0"/>
              <a:t>Allows users to:</a:t>
            </a:r>
          </a:p>
          <a:p>
            <a:pPr lvl="0">
              <a:lnSpc>
                <a:spcPct val="100000"/>
              </a:lnSpc>
            </a:pPr>
            <a:r>
              <a:rPr lang="en-IN" dirty="0"/>
              <a:t>Enter or paste news text. &gt;&gt; Select BERT, Bi-LSTM, or both models. &gt;&gt; Submit text for analysis.</a:t>
            </a:r>
          </a:p>
          <a:p>
            <a:pPr lvl="0">
              <a:lnSpc>
                <a:spcPct val="100000"/>
              </a:lnSpc>
            </a:pPr>
            <a:r>
              <a:rPr lang="en-IN" dirty="0"/>
              <a:t>View prediction labels and confidence scores.</a:t>
            </a:r>
          </a:p>
          <a:p>
            <a:pPr>
              <a:lnSpc>
                <a:spcPct val="100000"/>
              </a:lnSpc>
            </a:pPr>
            <a:r>
              <a:rPr lang="en-IN" b="1" dirty="0"/>
              <a:t>11.2 Data Collection Module</a:t>
            </a:r>
          </a:p>
          <a:p>
            <a:pPr>
              <a:lnSpc>
                <a:spcPct val="100000"/>
              </a:lnSpc>
            </a:pPr>
            <a:r>
              <a:rPr lang="en-IN" dirty="0"/>
              <a:t>Loads real and fake news articles from Excel files in the raw-data directory.</a:t>
            </a:r>
          </a:p>
          <a:p>
            <a:pPr>
              <a:lnSpc>
                <a:spcPct val="100000"/>
              </a:lnSpc>
            </a:pPr>
            <a:r>
              <a:rPr lang="en-IN" b="1" dirty="0"/>
              <a:t>11.3 Data Preprocessing Module</a:t>
            </a:r>
          </a:p>
          <a:p>
            <a:pPr>
              <a:lnSpc>
                <a:spcPct val="100000"/>
              </a:lnSpc>
            </a:pPr>
            <a:r>
              <a:rPr lang="en-IN" dirty="0"/>
              <a:t>Performs:</a:t>
            </a:r>
          </a:p>
          <a:p>
            <a:pPr lvl="0">
              <a:lnSpc>
                <a:spcPct val="100000"/>
              </a:lnSpc>
            </a:pPr>
            <a:r>
              <a:rPr lang="en-IN" dirty="0"/>
              <a:t>Missing-value removal. &gt;&gt; Text cleaning &gt;&gt; Whitespace normalization &gt;&gt; Removal of news agency datelines.</a:t>
            </a:r>
          </a:p>
          <a:p>
            <a:pPr lvl="0">
              <a:lnSpc>
                <a:spcPct val="100000"/>
              </a:lnSpc>
            </a:pPr>
            <a:r>
              <a:rPr lang="en-IN" dirty="0"/>
              <a:t>Duplicate removal.</a:t>
            </a:r>
          </a:p>
          <a:p>
            <a:pPr lvl="0">
              <a:lnSpc>
                <a:spcPct val="100000"/>
              </a:lnSpc>
            </a:pPr>
            <a:r>
              <a:rPr lang="en-IN" dirty="0"/>
              <a:t>Label conversion.</a:t>
            </a:r>
          </a:p>
        </p:txBody>
      </p:sp>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spTree>
    <p:extLst>
      <p:ext uri="{BB962C8B-B14F-4D97-AF65-F5344CB8AC3E}">
        <p14:creationId xmlns:p14="http://schemas.microsoft.com/office/powerpoint/2010/main" val="64299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83F8-A677-4F79-2799-14BF75785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BDF46F-BCDA-D890-4E49-DC0AEB2C2104}"/>
              </a:ext>
            </a:extLst>
          </p:cNvPr>
          <p:cNvSpPr>
            <a:spLocks noGrp="1"/>
          </p:cNvSpPr>
          <p:nvPr>
            <p:ph type="title"/>
          </p:nvPr>
        </p:nvSpPr>
        <p:spPr>
          <a:xfrm>
            <a:off x="850392" y="0"/>
            <a:ext cx="10122632" cy="832757"/>
          </a:xfrm>
        </p:spPr>
        <p:txBody>
          <a:bodyPr/>
          <a:lstStyle/>
          <a:p>
            <a:r>
              <a:rPr lang="en-IN" spc="0" dirty="0"/>
              <a:t>System Modules</a:t>
            </a:r>
            <a:endParaRPr lang="en-US" spc="0" dirty="0"/>
          </a:p>
        </p:txBody>
      </p:sp>
      <p:sp>
        <p:nvSpPr>
          <p:cNvPr id="3" name="Content Placeholder 2">
            <a:extLst>
              <a:ext uri="{FF2B5EF4-FFF2-40B4-BE49-F238E27FC236}">
                <a16:creationId xmlns:a16="http://schemas.microsoft.com/office/drawing/2014/main" id="{DA74948F-07F3-7FB8-AEC8-A015C961F49C}"/>
              </a:ext>
            </a:extLst>
          </p:cNvPr>
          <p:cNvSpPr>
            <a:spLocks noGrp="1"/>
          </p:cNvSpPr>
          <p:nvPr>
            <p:ph sz="half" idx="2"/>
          </p:nvPr>
        </p:nvSpPr>
        <p:spPr>
          <a:xfrm>
            <a:off x="850392" y="1045029"/>
            <a:ext cx="10085832" cy="5470071"/>
          </a:xfrm>
        </p:spPr>
        <p:txBody>
          <a:bodyPr/>
          <a:lstStyle/>
          <a:p>
            <a:pPr>
              <a:lnSpc>
                <a:spcPct val="100000"/>
              </a:lnSpc>
            </a:pPr>
            <a:r>
              <a:rPr lang="en-IN" b="1" dirty="0"/>
              <a:t>11.4 Bi-LSTM Module</a:t>
            </a:r>
          </a:p>
          <a:p>
            <a:pPr>
              <a:lnSpc>
                <a:spcPct val="100000"/>
              </a:lnSpc>
            </a:pPr>
            <a:r>
              <a:rPr lang="en-IN" dirty="0"/>
              <a:t>Converts text into vocabulary indices and processes the sequence using a bidirectional LSTM network.</a:t>
            </a:r>
          </a:p>
          <a:p>
            <a:pPr>
              <a:lnSpc>
                <a:spcPct val="100000"/>
              </a:lnSpc>
            </a:pPr>
            <a:r>
              <a:rPr lang="en-IN" b="1" dirty="0"/>
              <a:t>11.5 BERT Module</a:t>
            </a:r>
          </a:p>
          <a:p>
            <a:pPr>
              <a:lnSpc>
                <a:spcPct val="100000"/>
              </a:lnSpc>
            </a:pPr>
            <a:r>
              <a:rPr lang="en-IN" dirty="0"/>
              <a:t>Uses the BERT tokenizer and a fine-tuned BERT sequence-classification model.</a:t>
            </a:r>
          </a:p>
          <a:p>
            <a:pPr>
              <a:lnSpc>
                <a:spcPct val="100000"/>
              </a:lnSpc>
            </a:pPr>
            <a:r>
              <a:rPr lang="en-IN" b="1" dirty="0"/>
              <a:t>11.6 Prediction Module</a:t>
            </a:r>
          </a:p>
          <a:p>
            <a:pPr>
              <a:lnSpc>
                <a:spcPct val="100000"/>
              </a:lnSpc>
            </a:pPr>
            <a:r>
              <a:rPr lang="en-IN" dirty="0"/>
              <a:t>Loads trained models and returns: </a:t>
            </a:r>
          </a:p>
          <a:p>
            <a:pPr>
              <a:lnSpc>
                <a:spcPct val="100000"/>
              </a:lnSpc>
            </a:pPr>
            <a:r>
              <a:rPr lang="en-IN" dirty="0"/>
              <a:t>Predicted label &gt;&gt; Confidence score &gt;&gt; Model name.</a:t>
            </a:r>
          </a:p>
          <a:p>
            <a:pPr>
              <a:lnSpc>
                <a:spcPct val="100000"/>
              </a:lnSpc>
            </a:pPr>
            <a:r>
              <a:rPr lang="en-IN" b="1" dirty="0"/>
              <a:t>11.7 Backend API Module</a:t>
            </a:r>
          </a:p>
          <a:p>
            <a:pPr>
              <a:lnSpc>
                <a:spcPct val="100000"/>
              </a:lnSpc>
            </a:pPr>
            <a:r>
              <a:rPr lang="en-IN" dirty="0"/>
              <a:t>The FastAPI backend provides:</a:t>
            </a:r>
          </a:p>
          <a:p>
            <a:pPr lvl="0">
              <a:lnSpc>
                <a:spcPct val="100000"/>
              </a:lnSpc>
            </a:pPr>
            <a:r>
              <a:rPr lang="en-IN" dirty="0"/>
              <a:t>/</a:t>
            </a:r>
            <a:r>
              <a:rPr lang="en-IN" dirty="0" err="1"/>
              <a:t>api</a:t>
            </a:r>
            <a:r>
              <a:rPr lang="en-IN" dirty="0"/>
              <a:t>/health</a:t>
            </a:r>
          </a:p>
          <a:p>
            <a:pPr lvl="0">
              <a:lnSpc>
                <a:spcPct val="100000"/>
              </a:lnSpc>
            </a:pPr>
            <a:r>
              <a:rPr lang="en-IN" dirty="0"/>
              <a:t>/</a:t>
            </a:r>
            <a:r>
              <a:rPr lang="en-IN" dirty="0" err="1"/>
              <a:t>api</a:t>
            </a:r>
            <a:r>
              <a:rPr lang="en-IN" dirty="0"/>
              <a:t>/dashboard</a:t>
            </a:r>
          </a:p>
          <a:p>
            <a:pPr lvl="0">
              <a:lnSpc>
                <a:spcPct val="100000"/>
              </a:lnSpc>
            </a:pPr>
            <a:r>
              <a:rPr lang="en-IN" dirty="0"/>
              <a:t>/</a:t>
            </a:r>
            <a:r>
              <a:rPr lang="en-IN" dirty="0" err="1"/>
              <a:t>api</a:t>
            </a:r>
            <a:r>
              <a:rPr lang="en-IN" dirty="0"/>
              <a:t>/predict</a:t>
            </a:r>
          </a:p>
          <a:p>
            <a:pPr lvl="0">
              <a:lnSpc>
                <a:spcPct val="100000"/>
              </a:lnSpc>
            </a:pPr>
            <a:r>
              <a:rPr lang="en-IN" dirty="0"/>
              <a:t>/</a:t>
            </a:r>
            <a:r>
              <a:rPr lang="en-IN" dirty="0" err="1"/>
              <a:t>api</a:t>
            </a:r>
            <a:r>
              <a:rPr lang="en-IN" dirty="0"/>
              <a:t>/predict/batch</a:t>
            </a:r>
          </a:p>
          <a:p>
            <a:pPr>
              <a:lnSpc>
                <a:spcPct val="100000"/>
              </a:lnSpc>
            </a:pPr>
            <a:endParaRPr lang="en-IN" dirty="0"/>
          </a:p>
        </p:txBody>
      </p:sp>
      <p:sp>
        <p:nvSpPr>
          <p:cNvPr id="5" name="Slide Number Placeholder 4">
            <a:extLst>
              <a:ext uri="{FF2B5EF4-FFF2-40B4-BE49-F238E27FC236}">
                <a16:creationId xmlns:a16="http://schemas.microsoft.com/office/drawing/2014/main" id="{8FEEA530-80B0-50A5-0D39-B78CA92CB26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12</a:t>
            </a:fld>
            <a:endParaRPr lang="en-US" dirty="0"/>
          </a:p>
        </p:txBody>
      </p:sp>
    </p:spTree>
    <p:extLst>
      <p:ext uri="{BB962C8B-B14F-4D97-AF65-F5344CB8AC3E}">
        <p14:creationId xmlns:p14="http://schemas.microsoft.com/office/powerpoint/2010/main" val="3778844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5670D-54E7-A1B8-7EBC-1370CBD98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8A213-E2A5-6498-0592-12AF60D34A12}"/>
              </a:ext>
            </a:extLst>
          </p:cNvPr>
          <p:cNvSpPr>
            <a:spLocks noGrp="1"/>
          </p:cNvSpPr>
          <p:nvPr>
            <p:ph type="title"/>
          </p:nvPr>
        </p:nvSpPr>
        <p:spPr>
          <a:xfrm>
            <a:off x="850392" y="0"/>
            <a:ext cx="10122632" cy="832757"/>
          </a:xfrm>
        </p:spPr>
        <p:txBody>
          <a:bodyPr/>
          <a:lstStyle/>
          <a:p>
            <a:r>
              <a:rPr lang="en-IN" spc="0" dirty="0"/>
              <a:t>System Modules</a:t>
            </a:r>
            <a:endParaRPr lang="en-US" spc="0" dirty="0"/>
          </a:p>
        </p:txBody>
      </p:sp>
      <p:sp>
        <p:nvSpPr>
          <p:cNvPr id="3" name="Content Placeholder 2">
            <a:extLst>
              <a:ext uri="{FF2B5EF4-FFF2-40B4-BE49-F238E27FC236}">
                <a16:creationId xmlns:a16="http://schemas.microsoft.com/office/drawing/2014/main" id="{D662F15C-EE50-F86B-4338-C92039E3CF4E}"/>
              </a:ext>
            </a:extLst>
          </p:cNvPr>
          <p:cNvSpPr>
            <a:spLocks noGrp="1"/>
          </p:cNvSpPr>
          <p:nvPr>
            <p:ph sz="half" idx="2"/>
          </p:nvPr>
        </p:nvSpPr>
        <p:spPr>
          <a:xfrm>
            <a:off x="850392" y="1045029"/>
            <a:ext cx="10085832" cy="5470071"/>
          </a:xfrm>
        </p:spPr>
        <p:txBody>
          <a:bodyPr/>
          <a:lstStyle/>
          <a:p>
            <a:r>
              <a:rPr lang="en-IN" b="1" dirty="0"/>
              <a:t>11.8 Analytics Module</a:t>
            </a:r>
          </a:p>
          <a:p>
            <a:r>
              <a:rPr lang="en-IN" dirty="0"/>
              <a:t>Displays:</a:t>
            </a:r>
          </a:p>
          <a:p>
            <a:pPr lvl="0"/>
            <a:r>
              <a:rPr lang="en-IN" dirty="0"/>
              <a:t>Dataset statistics.</a:t>
            </a:r>
          </a:p>
          <a:p>
            <a:pPr lvl="0"/>
            <a:r>
              <a:rPr lang="en-IN" dirty="0"/>
              <a:t>Training history.</a:t>
            </a:r>
          </a:p>
          <a:p>
            <a:pPr lvl="0"/>
            <a:r>
              <a:rPr lang="en-IN" dirty="0"/>
              <a:t>Model metrics.</a:t>
            </a:r>
          </a:p>
          <a:p>
            <a:pPr lvl="0"/>
            <a:r>
              <a:rPr lang="en-IN" dirty="0"/>
              <a:t>Model-comparison information.</a:t>
            </a:r>
          </a:p>
          <a:p>
            <a:r>
              <a:rPr lang="en-IN" b="1" dirty="0"/>
              <a:t>11.9 Security Module</a:t>
            </a:r>
          </a:p>
          <a:p>
            <a:r>
              <a:rPr lang="en-IN" dirty="0"/>
              <a:t>The current prototype does not include user authentication or role-based access control. These can be added in future versions.</a:t>
            </a:r>
          </a:p>
        </p:txBody>
      </p:sp>
      <p:sp>
        <p:nvSpPr>
          <p:cNvPr id="5" name="Slide Number Placeholder 4">
            <a:extLst>
              <a:ext uri="{FF2B5EF4-FFF2-40B4-BE49-F238E27FC236}">
                <a16:creationId xmlns:a16="http://schemas.microsoft.com/office/drawing/2014/main" id="{EC4C424B-DDD8-74EF-AB69-A612D5DD5A83}"/>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13</a:t>
            </a:fld>
            <a:endParaRPr lang="en-US" dirty="0"/>
          </a:p>
        </p:txBody>
      </p:sp>
    </p:spTree>
    <p:extLst>
      <p:ext uri="{BB962C8B-B14F-4D97-AF65-F5344CB8AC3E}">
        <p14:creationId xmlns:p14="http://schemas.microsoft.com/office/powerpoint/2010/main" val="3831756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DA3A-D940-24A2-C04C-F51181F5D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8B5DA-63B4-4870-FDB2-9E419CAF2DAF}"/>
              </a:ext>
            </a:extLst>
          </p:cNvPr>
          <p:cNvSpPr>
            <a:spLocks noGrp="1"/>
          </p:cNvSpPr>
          <p:nvPr>
            <p:ph type="title"/>
          </p:nvPr>
        </p:nvSpPr>
        <p:spPr>
          <a:xfrm>
            <a:off x="850392" y="0"/>
            <a:ext cx="10122632" cy="832757"/>
          </a:xfrm>
        </p:spPr>
        <p:txBody>
          <a:bodyPr/>
          <a:lstStyle/>
          <a:p>
            <a:r>
              <a:rPr lang="en-IN" spc="0" dirty="0"/>
              <a:t>Implementation</a:t>
            </a:r>
            <a:endParaRPr lang="en-US" spc="0" dirty="0"/>
          </a:p>
        </p:txBody>
      </p:sp>
      <p:sp>
        <p:nvSpPr>
          <p:cNvPr id="3" name="Content Placeholder 2">
            <a:extLst>
              <a:ext uri="{FF2B5EF4-FFF2-40B4-BE49-F238E27FC236}">
                <a16:creationId xmlns:a16="http://schemas.microsoft.com/office/drawing/2014/main" id="{07A303ED-2155-A161-8FA2-0A2139CE99F2}"/>
              </a:ext>
            </a:extLst>
          </p:cNvPr>
          <p:cNvSpPr>
            <a:spLocks noGrp="1"/>
          </p:cNvSpPr>
          <p:nvPr>
            <p:ph sz="half" idx="2"/>
          </p:nvPr>
        </p:nvSpPr>
        <p:spPr>
          <a:xfrm>
            <a:off x="850392" y="1045029"/>
            <a:ext cx="10085832" cy="5470071"/>
          </a:xfrm>
        </p:spPr>
        <p:txBody>
          <a:bodyPr/>
          <a:lstStyle/>
          <a:p>
            <a:pPr>
              <a:lnSpc>
                <a:spcPct val="100000"/>
              </a:lnSpc>
            </a:pPr>
            <a:r>
              <a:rPr lang="en-IN" dirty="0"/>
              <a:t>The implementation was divided into four major stages.</a:t>
            </a:r>
          </a:p>
          <a:p>
            <a:pPr>
              <a:lnSpc>
                <a:spcPct val="100000"/>
              </a:lnSpc>
            </a:pPr>
            <a:r>
              <a:rPr lang="en-IN" b="1" dirty="0"/>
              <a:t>Data Processing</a:t>
            </a:r>
          </a:p>
          <a:p>
            <a:pPr>
              <a:lnSpc>
                <a:spcPct val="100000"/>
              </a:lnSpc>
            </a:pPr>
            <a:r>
              <a:rPr lang="en-IN" dirty="0"/>
              <a:t>The preprocessing script loads the Excel files, identifies the text and label columns, cleans the text, removes duplicates, and creates training, validation, and test files.</a:t>
            </a:r>
          </a:p>
          <a:p>
            <a:pPr>
              <a:lnSpc>
                <a:spcPct val="100000"/>
              </a:lnSpc>
            </a:pPr>
            <a:r>
              <a:rPr lang="en-IN" b="1" dirty="0"/>
              <a:t>Model Training</a:t>
            </a:r>
          </a:p>
          <a:p>
            <a:pPr>
              <a:lnSpc>
                <a:spcPct val="100000"/>
              </a:lnSpc>
            </a:pPr>
            <a:r>
              <a:rPr lang="en-IN" dirty="0"/>
              <a:t>The Bi-LSTM model was implemented using </a:t>
            </a:r>
            <a:r>
              <a:rPr lang="en-IN" dirty="0" err="1"/>
              <a:t>PyTorch</a:t>
            </a:r>
            <a:r>
              <a:rPr lang="en-IN" dirty="0"/>
              <a:t>. The BERT model was fine-tuned using the Hugging Face Transformers library.</a:t>
            </a:r>
          </a:p>
          <a:p>
            <a:pPr>
              <a:lnSpc>
                <a:spcPct val="100000"/>
              </a:lnSpc>
            </a:pPr>
            <a:r>
              <a:rPr lang="en-IN" b="1" dirty="0"/>
              <a:t>Backend Development</a:t>
            </a:r>
          </a:p>
          <a:p>
            <a:pPr>
              <a:lnSpc>
                <a:spcPct val="100000"/>
              </a:lnSpc>
            </a:pPr>
            <a:r>
              <a:rPr lang="en-IN" dirty="0"/>
              <a:t>A FastAPI server was developed to load the saved models and provide REST API endpoints for prediction and dashboard information.</a:t>
            </a:r>
          </a:p>
          <a:p>
            <a:pPr>
              <a:lnSpc>
                <a:spcPct val="100000"/>
              </a:lnSpc>
            </a:pPr>
            <a:r>
              <a:rPr lang="en-IN" b="1" dirty="0"/>
              <a:t>Frontend Development</a:t>
            </a:r>
          </a:p>
          <a:p>
            <a:pPr>
              <a:lnSpc>
                <a:spcPct val="100000"/>
              </a:lnSpc>
            </a:pPr>
            <a:r>
              <a:rPr lang="en-IN" dirty="0"/>
              <a:t>A React and Vite-based web application was developed with the following pages:</a:t>
            </a:r>
          </a:p>
          <a:p>
            <a:pPr lvl="0">
              <a:lnSpc>
                <a:spcPct val="100000"/>
              </a:lnSpc>
            </a:pPr>
            <a:r>
              <a:rPr lang="en-IN" dirty="0"/>
              <a:t>Dashboard | Detect News | Model Comparison | Analytics | About Project</a:t>
            </a:r>
          </a:p>
        </p:txBody>
      </p:sp>
      <p:sp>
        <p:nvSpPr>
          <p:cNvPr id="5" name="Slide Number Placeholder 4">
            <a:extLst>
              <a:ext uri="{FF2B5EF4-FFF2-40B4-BE49-F238E27FC236}">
                <a16:creationId xmlns:a16="http://schemas.microsoft.com/office/drawing/2014/main" id="{EA303AC9-EA49-45C8-4CD2-F474E342357E}"/>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14</a:t>
            </a:fld>
            <a:endParaRPr lang="en-US" dirty="0"/>
          </a:p>
        </p:txBody>
      </p:sp>
    </p:spTree>
    <p:extLst>
      <p:ext uri="{BB962C8B-B14F-4D97-AF65-F5344CB8AC3E}">
        <p14:creationId xmlns:p14="http://schemas.microsoft.com/office/powerpoint/2010/main" val="1109650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4ADA3-A285-B36A-4986-C1E059572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E6A4A-100F-01B0-7959-EA637C55A640}"/>
              </a:ext>
            </a:extLst>
          </p:cNvPr>
          <p:cNvSpPr>
            <a:spLocks noGrp="1"/>
          </p:cNvSpPr>
          <p:nvPr>
            <p:ph type="title"/>
          </p:nvPr>
        </p:nvSpPr>
        <p:spPr>
          <a:xfrm>
            <a:off x="850392" y="0"/>
            <a:ext cx="10122632" cy="832757"/>
          </a:xfrm>
        </p:spPr>
        <p:txBody>
          <a:bodyPr/>
          <a:lstStyle/>
          <a:p>
            <a:r>
              <a:rPr lang="en-IN" spc="0" dirty="0"/>
              <a:t>Implementation</a:t>
            </a:r>
            <a:endParaRPr lang="en-US" spc="0" dirty="0"/>
          </a:p>
        </p:txBody>
      </p:sp>
      <p:sp>
        <p:nvSpPr>
          <p:cNvPr id="3" name="Content Placeholder 2">
            <a:extLst>
              <a:ext uri="{FF2B5EF4-FFF2-40B4-BE49-F238E27FC236}">
                <a16:creationId xmlns:a16="http://schemas.microsoft.com/office/drawing/2014/main" id="{2F05CE2D-DAAA-67CE-777C-2E9E75FF8CF9}"/>
              </a:ext>
            </a:extLst>
          </p:cNvPr>
          <p:cNvSpPr>
            <a:spLocks noGrp="1"/>
          </p:cNvSpPr>
          <p:nvPr>
            <p:ph sz="half" idx="2"/>
          </p:nvPr>
        </p:nvSpPr>
        <p:spPr>
          <a:xfrm>
            <a:off x="850392" y="1045029"/>
            <a:ext cx="10085832" cy="5470071"/>
          </a:xfrm>
        </p:spPr>
        <p:txBody>
          <a:bodyPr/>
          <a:lstStyle/>
          <a:p>
            <a:r>
              <a:rPr lang="en-IN" b="1" dirty="0"/>
              <a:t>Example Prediction Request</a:t>
            </a:r>
          </a:p>
          <a:p>
            <a:endParaRPr lang="en-IN" dirty="0"/>
          </a:p>
          <a:p>
            <a:endParaRPr lang="en-IN" dirty="0"/>
          </a:p>
          <a:p>
            <a:endParaRPr lang="en-IN" dirty="0"/>
          </a:p>
          <a:p>
            <a:r>
              <a:rPr lang="en-IN" b="1" dirty="0"/>
              <a:t>Example Output</a:t>
            </a:r>
          </a:p>
          <a:p>
            <a:endParaRPr lang="en-IN" b="1" dirty="0"/>
          </a:p>
          <a:p>
            <a:endParaRPr lang="en-IN" dirty="0"/>
          </a:p>
        </p:txBody>
      </p:sp>
      <p:sp>
        <p:nvSpPr>
          <p:cNvPr id="5" name="Slide Number Placeholder 4">
            <a:extLst>
              <a:ext uri="{FF2B5EF4-FFF2-40B4-BE49-F238E27FC236}">
                <a16:creationId xmlns:a16="http://schemas.microsoft.com/office/drawing/2014/main" id="{BBDE6BE6-737C-1318-AF4B-155FAF2FDFC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15</a:t>
            </a:fld>
            <a:endParaRPr lang="en-US" dirty="0"/>
          </a:p>
        </p:txBody>
      </p:sp>
      <p:pic>
        <p:nvPicPr>
          <p:cNvPr id="6" name="Picture 5">
            <a:extLst>
              <a:ext uri="{FF2B5EF4-FFF2-40B4-BE49-F238E27FC236}">
                <a16:creationId xmlns:a16="http://schemas.microsoft.com/office/drawing/2014/main" id="{4938C89B-FFAC-2D0B-7639-2D801B37D1D5}"/>
              </a:ext>
            </a:extLst>
          </p:cNvPr>
          <p:cNvPicPr>
            <a:picLocks noChangeAspect="1"/>
          </p:cNvPicPr>
          <p:nvPr/>
        </p:nvPicPr>
        <p:blipFill>
          <a:blip r:embed="rId2"/>
          <a:stretch>
            <a:fillRect/>
          </a:stretch>
        </p:blipFill>
        <p:spPr>
          <a:xfrm>
            <a:off x="2693494" y="1602864"/>
            <a:ext cx="4061812" cy="1058693"/>
          </a:xfrm>
          <a:prstGeom prst="rect">
            <a:avLst/>
          </a:prstGeom>
        </p:spPr>
      </p:pic>
      <p:pic>
        <p:nvPicPr>
          <p:cNvPr id="9" name="Picture 8">
            <a:extLst>
              <a:ext uri="{FF2B5EF4-FFF2-40B4-BE49-F238E27FC236}">
                <a16:creationId xmlns:a16="http://schemas.microsoft.com/office/drawing/2014/main" id="{D4C4B695-29C8-13D4-5549-B6A74B36CB9E}"/>
              </a:ext>
            </a:extLst>
          </p:cNvPr>
          <p:cNvPicPr>
            <a:picLocks noChangeAspect="1"/>
          </p:cNvPicPr>
          <p:nvPr/>
        </p:nvPicPr>
        <p:blipFill>
          <a:blip r:embed="rId3"/>
          <a:stretch>
            <a:fillRect/>
          </a:stretch>
        </p:blipFill>
        <p:spPr>
          <a:xfrm>
            <a:off x="2693494" y="3219392"/>
            <a:ext cx="4061811" cy="2816442"/>
          </a:xfrm>
          <a:prstGeom prst="rect">
            <a:avLst/>
          </a:prstGeom>
        </p:spPr>
      </p:pic>
    </p:spTree>
    <p:extLst>
      <p:ext uri="{BB962C8B-B14F-4D97-AF65-F5344CB8AC3E}">
        <p14:creationId xmlns:p14="http://schemas.microsoft.com/office/powerpoint/2010/main" val="1610177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1362-64C5-5039-A5EB-E9A319F35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A9DE3-800A-C2E0-E43A-238BA06410E3}"/>
              </a:ext>
            </a:extLst>
          </p:cNvPr>
          <p:cNvSpPr>
            <a:spLocks noGrp="1"/>
          </p:cNvSpPr>
          <p:nvPr>
            <p:ph type="title"/>
          </p:nvPr>
        </p:nvSpPr>
        <p:spPr>
          <a:xfrm>
            <a:off x="850392" y="0"/>
            <a:ext cx="10122632" cy="832757"/>
          </a:xfrm>
        </p:spPr>
        <p:txBody>
          <a:bodyPr/>
          <a:lstStyle/>
          <a:p>
            <a:r>
              <a:rPr lang="en-IN" spc="0" dirty="0"/>
              <a:t>Dataset and Input Data</a:t>
            </a:r>
            <a:endParaRPr lang="en-US" spc="0" dirty="0"/>
          </a:p>
        </p:txBody>
      </p:sp>
      <p:sp>
        <p:nvSpPr>
          <p:cNvPr id="5" name="Slide Number Placeholder 4">
            <a:extLst>
              <a:ext uri="{FF2B5EF4-FFF2-40B4-BE49-F238E27FC236}">
                <a16:creationId xmlns:a16="http://schemas.microsoft.com/office/drawing/2014/main" id="{4316B699-53D5-BCA4-27CE-ABE726FF463E}"/>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16</a:t>
            </a:fld>
            <a:endParaRPr lang="en-US" dirty="0"/>
          </a:p>
        </p:txBody>
      </p:sp>
      <p:sp>
        <p:nvSpPr>
          <p:cNvPr id="8" name="TextBox 7">
            <a:extLst>
              <a:ext uri="{FF2B5EF4-FFF2-40B4-BE49-F238E27FC236}">
                <a16:creationId xmlns:a16="http://schemas.microsoft.com/office/drawing/2014/main" id="{D18F1B31-690E-BE2D-76F0-5442CBCB9EA3}"/>
              </a:ext>
            </a:extLst>
          </p:cNvPr>
          <p:cNvSpPr txBox="1"/>
          <p:nvPr/>
        </p:nvSpPr>
        <p:spPr>
          <a:xfrm>
            <a:off x="850392" y="942222"/>
            <a:ext cx="6106884" cy="5632311"/>
          </a:xfrm>
          <a:prstGeom prst="rect">
            <a:avLst/>
          </a:prstGeom>
          <a:noFill/>
        </p:spPr>
        <p:txBody>
          <a:bodyPr wrap="square">
            <a:spAutoFit/>
          </a:bodyPr>
          <a:lstStyle/>
          <a:p>
            <a:pPr>
              <a:buNone/>
            </a:pPr>
            <a:r>
              <a:rPr lang="en-IN" b="1" dirty="0"/>
              <a:t>Dataset Name</a:t>
            </a:r>
          </a:p>
          <a:p>
            <a:pPr>
              <a:buNone/>
            </a:pPr>
            <a:r>
              <a:rPr lang="en-IN" dirty="0"/>
              <a:t>PolyglotFakeFacts</a:t>
            </a:r>
          </a:p>
          <a:p>
            <a:pPr>
              <a:buNone/>
            </a:pPr>
            <a:r>
              <a:rPr lang="en-IN" b="1" dirty="0"/>
              <a:t>Source Files</a:t>
            </a:r>
          </a:p>
          <a:p>
            <a:pPr marL="342900" lvl="0" indent="-342900">
              <a:buFont typeface="Arial" panose="020B0604020202020204" pitchFamily="34" charset="0"/>
              <a:buChar char="•"/>
            </a:pPr>
            <a:r>
              <a:rPr lang="en-IN" dirty="0">
                <a:latin typeface="+mn-lt"/>
              </a:rPr>
              <a:t>PolyglotFakeFacts_Fake.xlsx</a:t>
            </a:r>
            <a:endParaRPr lang="en-IN" dirty="0"/>
          </a:p>
          <a:p>
            <a:pPr marL="342900" lvl="0" indent="-342900">
              <a:buFont typeface="Arial" panose="020B0604020202020204" pitchFamily="34" charset="0"/>
              <a:buChar char="•"/>
            </a:pPr>
            <a:r>
              <a:rPr lang="en-IN" dirty="0">
                <a:latin typeface="+mn-lt"/>
              </a:rPr>
              <a:t>PolyglotFakeFacts_Real.xlsx</a:t>
            </a:r>
            <a:endParaRPr lang="en-IN" dirty="0"/>
          </a:p>
          <a:p>
            <a:pPr>
              <a:buNone/>
            </a:pPr>
            <a:r>
              <a:rPr lang="en-IN" b="1" dirty="0"/>
              <a:t>Dataset Statistics</a:t>
            </a:r>
          </a:p>
          <a:p>
            <a:pPr>
              <a:buNone/>
            </a:pPr>
            <a:r>
              <a:rPr lang="en-IN" b="1" dirty="0"/>
              <a:t>Class Distribution</a:t>
            </a:r>
          </a:p>
          <a:p>
            <a:pPr>
              <a:buNone/>
            </a:pPr>
            <a:r>
              <a:rPr lang="en-IN" b="1" dirty="0"/>
              <a:t>Preprocessing</a:t>
            </a:r>
          </a:p>
          <a:p>
            <a:pPr>
              <a:buNone/>
            </a:pPr>
            <a:r>
              <a:rPr lang="en-IN" dirty="0"/>
              <a:t>The preprocessing stage:</a:t>
            </a:r>
          </a:p>
          <a:p>
            <a:pPr marL="342900" lvl="0" indent="-342900">
              <a:buFont typeface="Arial" panose="020B0604020202020204" pitchFamily="34" charset="0"/>
              <a:buChar char="•"/>
            </a:pPr>
            <a:r>
              <a:rPr lang="en-IN" dirty="0"/>
              <a:t>Removes missing records.</a:t>
            </a:r>
          </a:p>
          <a:p>
            <a:pPr marL="342900" lvl="0" indent="-342900">
              <a:buFont typeface="Arial" panose="020B0604020202020204" pitchFamily="34" charset="0"/>
              <a:buChar char="•"/>
            </a:pPr>
            <a:r>
              <a:rPr lang="en-IN" dirty="0"/>
              <a:t>Removes text shorter than ten characters.</a:t>
            </a:r>
          </a:p>
          <a:p>
            <a:pPr marL="342900" lvl="0" indent="-342900">
              <a:buFont typeface="Arial" panose="020B0604020202020204" pitchFamily="34" charset="0"/>
              <a:buChar char="•"/>
            </a:pPr>
            <a:r>
              <a:rPr lang="en-IN" dirty="0"/>
              <a:t>Normalizes labels.</a:t>
            </a:r>
          </a:p>
          <a:p>
            <a:pPr marL="342900" lvl="0" indent="-342900">
              <a:buFont typeface="Arial" panose="020B0604020202020204" pitchFamily="34" charset="0"/>
              <a:buChar char="•"/>
            </a:pPr>
            <a:r>
              <a:rPr lang="en-IN" dirty="0"/>
              <a:t>Cleans whitespace.</a:t>
            </a:r>
          </a:p>
          <a:p>
            <a:pPr marL="342900" lvl="0" indent="-342900">
              <a:buFont typeface="Arial" panose="020B0604020202020204" pitchFamily="34" charset="0"/>
              <a:buChar char="•"/>
            </a:pPr>
            <a:r>
              <a:rPr lang="en-IN" dirty="0"/>
              <a:t>Removes agency datelines such as Reuters or AP markers.</a:t>
            </a:r>
          </a:p>
          <a:p>
            <a:pPr marL="342900" lvl="0" indent="-342900">
              <a:buFont typeface="Arial" panose="020B0604020202020204" pitchFamily="34" charset="0"/>
              <a:buChar char="•"/>
            </a:pPr>
            <a:r>
              <a:rPr lang="en-IN" dirty="0"/>
              <a:t>Removes promotional YouTube text.</a:t>
            </a:r>
          </a:p>
          <a:p>
            <a:pPr marL="342900" lvl="0" indent="-342900">
              <a:buFont typeface="Arial" panose="020B0604020202020204" pitchFamily="34" charset="0"/>
              <a:buChar char="•"/>
            </a:pPr>
            <a:r>
              <a:rPr lang="en-IN" dirty="0"/>
              <a:t>Removes duplicate text entries.</a:t>
            </a:r>
          </a:p>
          <a:p>
            <a:pPr marL="342900" lvl="0" indent="-342900">
              <a:buFont typeface="Arial" panose="020B0604020202020204" pitchFamily="34" charset="0"/>
              <a:buChar char="•"/>
            </a:pPr>
            <a:r>
              <a:rPr lang="en-IN" dirty="0"/>
              <a:t>Uses a fixed random seed of 42.</a:t>
            </a:r>
          </a:p>
          <a:p>
            <a:pPr marL="342900" lvl="0" indent="-342900">
              <a:buFont typeface="Arial" panose="020B0604020202020204" pitchFamily="34" charset="0"/>
              <a:buChar char="•"/>
            </a:pPr>
            <a:r>
              <a:rPr lang="en-IN" dirty="0"/>
              <a:t>Verifies that URL groups do not appear in multiple splits.</a:t>
            </a:r>
          </a:p>
        </p:txBody>
      </p:sp>
    </p:spTree>
    <p:extLst>
      <p:ext uri="{BB962C8B-B14F-4D97-AF65-F5344CB8AC3E}">
        <p14:creationId xmlns:p14="http://schemas.microsoft.com/office/powerpoint/2010/main" val="782333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72F3-9AE2-B140-D26B-025CCAD37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AABC5-7CCF-7852-CF24-4115D42C932C}"/>
              </a:ext>
            </a:extLst>
          </p:cNvPr>
          <p:cNvSpPr>
            <a:spLocks noGrp="1"/>
          </p:cNvSpPr>
          <p:nvPr>
            <p:ph type="title"/>
          </p:nvPr>
        </p:nvSpPr>
        <p:spPr>
          <a:xfrm>
            <a:off x="850392" y="0"/>
            <a:ext cx="10122632" cy="832757"/>
          </a:xfrm>
        </p:spPr>
        <p:txBody>
          <a:bodyPr/>
          <a:lstStyle/>
          <a:p>
            <a:r>
              <a:rPr lang="en-IN" spc="0" dirty="0"/>
              <a:t>Dataset and Input Data</a:t>
            </a:r>
            <a:endParaRPr lang="en-US" spc="0" dirty="0"/>
          </a:p>
        </p:txBody>
      </p:sp>
      <p:graphicFrame>
        <p:nvGraphicFramePr>
          <p:cNvPr id="4" name="Content Placeholder 3">
            <a:extLst>
              <a:ext uri="{FF2B5EF4-FFF2-40B4-BE49-F238E27FC236}">
                <a16:creationId xmlns:a16="http://schemas.microsoft.com/office/drawing/2014/main" id="{637D7E37-60CA-3272-FD48-FC6FBDDC1DF8}"/>
              </a:ext>
            </a:extLst>
          </p:cNvPr>
          <p:cNvGraphicFramePr>
            <a:graphicFrameLocks noGrp="1"/>
          </p:cNvGraphicFramePr>
          <p:nvPr>
            <p:ph sz="half" idx="2"/>
            <p:extLst>
              <p:ext uri="{D42A27DB-BD31-4B8C-83A1-F6EECF244321}">
                <p14:modId xmlns:p14="http://schemas.microsoft.com/office/powerpoint/2010/main" val="1650808041"/>
              </p:ext>
            </p:extLst>
          </p:nvPr>
        </p:nvGraphicFramePr>
        <p:xfrm>
          <a:off x="709740" y="1494768"/>
          <a:ext cx="10085388" cy="2326667"/>
        </p:xfrm>
        <a:graphic>
          <a:graphicData uri="http://schemas.openxmlformats.org/drawingml/2006/table">
            <a:tbl>
              <a:tblPr>
                <a:tableStyleId>{5C22544A-7EE6-4342-B048-85BDC9FD1C3A}</a:tableStyleId>
              </a:tblPr>
              <a:tblGrid>
                <a:gridCol w="5042694">
                  <a:extLst>
                    <a:ext uri="{9D8B030D-6E8A-4147-A177-3AD203B41FA5}">
                      <a16:colId xmlns:a16="http://schemas.microsoft.com/office/drawing/2014/main" val="725601377"/>
                    </a:ext>
                  </a:extLst>
                </a:gridCol>
                <a:gridCol w="5042694">
                  <a:extLst>
                    <a:ext uri="{9D8B030D-6E8A-4147-A177-3AD203B41FA5}">
                      <a16:colId xmlns:a16="http://schemas.microsoft.com/office/drawing/2014/main" val="1478719517"/>
                    </a:ext>
                  </a:extLst>
                </a:gridCol>
              </a:tblGrid>
              <a:tr h="332381">
                <a:tc>
                  <a:txBody>
                    <a:bodyPr/>
                    <a:lstStyle/>
                    <a:p>
                      <a:pPr>
                        <a:buNone/>
                      </a:pPr>
                      <a:r>
                        <a:rPr lang="en-IN" sz="1600"/>
                        <a:t>Category</a:t>
                      </a:r>
                    </a:p>
                  </a:txBody>
                  <a:tcPr marL="83095" marR="83095" marT="41548" marB="41548" anchor="ctr"/>
                </a:tc>
                <a:tc>
                  <a:txBody>
                    <a:bodyPr/>
                    <a:lstStyle/>
                    <a:p>
                      <a:pPr>
                        <a:buNone/>
                      </a:pPr>
                      <a:r>
                        <a:rPr lang="en-IN" sz="1600"/>
                        <a:t>Number</a:t>
                      </a:r>
                    </a:p>
                  </a:txBody>
                  <a:tcPr marL="83095" marR="83095" marT="41548" marB="41548" anchor="ctr"/>
                </a:tc>
                <a:extLst>
                  <a:ext uri="{0D108BD9-81ED-4DB2-BD59-A6C34878D82A}">
                    <a16:rowId xmlns:a16="http://schemas.microsoft.com/office/drawing/2014/main" val="2334394171"/>
                  </a:ext>
                </a:extLst>
              </a:tr>
              <a:tr h="332381">
                <a:tc>
                  <a:txBody>
                    <a:bodyPr/>
                    <a:lstStyle/>
                    <a:p>
                      <a:pPr>
                        <a:buNone/>
                      </a:pPr>
                      <a:r>
                        <a:rPr lang="en-IN" sz="1600"/>
                        <a:t>Initially loaded articles</a:t>
                      </a:r>
                    </a:p>
                  </a:txBody>
                  <a:tcPr marL="83095" marR="83095" marT="41548" marB="41548" anchor="ctr"/>
                </a:tc>
                <a:tc>
                  <a:txBody>
                    <a:bodyPr/>
                    <a:lstStyle/>
                    <a:p>
                      <a:pPr>
                        <a:buNone/>
                      </a:pPr>
                      <a:r>
                        <a:rPr lang="en-IN" sz="1600"/>
                        <a:t>10,206</a:t>
                      </a:r>
                    </a:p>
                  </a:txBody>
                  <a:tcPr marL="83095" marR="83095" marT="41548" marB="41548" anchor="ctr"/>
                </a:tc>
                <a:extLst>
                  <a:ext uri="{0D108BD9-81ED-4DB2-BD59-A6C34878D82A}">
                    <a16:rowId xmlns:a16="http://schemas.microsoft.com/office/drawing/2014/main" val="3667193302"/>
                  </a:ext>
                </a:extLst>
              </a:tr>
              <a:tr h="332381">
                <a:tc>
                  <a:txBody>
                    <a:bodyPr/>
                    <a:lstStyle/>
                    <a:p>
                      <a:pPr>
                        <a:buNone/>
                      </a:pPr>
                      <a:r>
                        <a:rPr lang="en-IN" sz="1600" dirty="0"/>
                        <a:t>Articles after preprocessing</a:t>
                      </a:r>
                    </a:p>
                  </a:txBody>
                  <a:tcPr marL="83095" marR="83095" marT="41548" marB="41548" anchor="ctr"/>
                </a:tc>
                <a:tc>
                  <a:txBody>
                    <a:bodyPr/>
                    <a:lstStyle/>
                    <a:p>
                      <a:pPr>
                        <a:buNone/>
                      </a:pPr>
                      <a:r>
                        <a:rPr lang="en-IN" sz="1600" dirty="0"/>
                        <a:t>8,654</a:t>
                      </a:r>
                    </a:p>
                  </a:txBody>
                  <a:tcPr marL="83095" marR="83095" marT="41548" marB="41548" anchor="ctr"/>
                </a:tc>
                <a:extLst>
                  <a:ext uri="{0D108BD9-81ED-4DB2-BD59-A6C34878D82A}">
                    <a16:rowId xmlns:a16="http://schemas.microsoft.com/office/drawing/2014/main" val="1905601504"/>
                  </a:ext>
                </a:extLst>
              </a:tr>
              <a:tr h="332381">
                <a:tc>
                  <a:txBody>
                    <a:bodyPr/>
                    <a:lstStyle/>
                    <a:p>
                      <a:pPr>
                        <a:buNone/>
                      </a:pPr>
                      <a:r>
                        <a:rPr lang="en-IN" sz="1600"/>
                        <a:t>Duplicate articles removed</a:t>
                      </a:r>
                    </a:p>
                  </a:txBody>
                  <a:tcPr marL="83095" marR="83095" marT="41548" marB="41548" anchor="ctr"/>
                </a:tc>
                <a:tc>
                  <a:txBody>
                    <a:bodyPr/>
                    <a:lstStyle/>
                    <a:p>
                      <a:pPr>
                        <a:buNone/>
                      </a:pPr>
                      <a:r>
                        <a:rPr lang="en-IN" sz="1600"/>
                        <a:t>1,552</a:t>
                      </a:r>
                    </a:p>
                  </a:txBody>
                  <a:tcPr marL="83095" marR="83095" marT="41548" marB="41548" anchor="ctr"/>
                </a:tc>
                <a:extLst>
                  <a:ext uri="{0D108BD9-81ED-4DB2-BD59-A6C34878D82A}">
                    <a16:rowId xmlns:a16="http://schemas.microsoft.com/office/drawing/2014/main" val="3138766466"/>
                  </a:ext>
                </a:extLst>
              </a:tr>
              <a:tr h="332381">
                <a:tc>
                  <a:txBody>
                    <a:bodyPr/>
                    <a:lstStyle/>
                    <a:p>
                      <a:pPr>
                        <a:buNone/>
                      </a:pPr>
                      <a:r>
                        <a:rPr lang="en-IN" sz="1600" dirty="0"/>
                        <a:t>Training samples</a:t>
                      </a:r>
                    </a:p>
                  </a:txBody>
                  <a:tcPr marL="83095" marR="83095" marT="41548" marB="41548" anchor="ctr"/>
                </a:tc>
                <a:tc>
                  <a:txBody>
                    <a:bodyPr/>
                    <a:lstStyle/>
                    <a:p>
                      <a:pPr>
                        <a:buNone/>
                      </a:pPr>
                      <a:r>
                        <a:rPr lang="en-IN" sz="1600"/>
                        <a:t>6,057</a:t>
                      </a:r>
                    </a:p>
                  </a:txBody>
                  <a:tcPr marL="83095" marR="83095" marT="41548" marB="41548" anchor="ctr"/>
                </a:tc>
                <a:extLst>
                  <a:ext uri="{0D108BD9-81ED-4DB2-BD59-A6C34878D82A}">
                    <a16:rowId xmlns:a16="http://schemas.microsoft.com/office/drawing/2014/main" val="1000990127"/>
                  </a:ext>
                </a:extLst>
              </a:tr>
              <a:tr h="332381">
                <a:tc>
                  <a:txBody>
                    <a:bodyPr/>
                    <a:lstStyle/>
                    <a:p>
                      <a:pPr>
                        <a:buNone/>
                      </a:pPr>
                      <a:r>
                        <a:rPr lang="en-IN" sz="1600"/>
                        <a:t>Validation samples</a:t>
                      </a:r>
                    </a:p>
                  </a:txBody>
                  <a:tcPr marL="83095" marR="83095" marT="41548" marB="41548" anchor="ctr"/>
                </a:tc>
                <a:tc>
                  <a:txBody>
                    <a:bodyPr/>
                    <a:lstStyle/>
                    <a:p>
                      <a:pPr>
                        <a:buNone/>
                      </a:pPr>
                      <a:r>
                        <a:rPr lang="en-IN" sz="1600"/>
                        <a:t>1,298</a:t>
                      </a:r>
                    </a:p>
                  </a:txBody>
                  <a:tcPr marL="83095" marR="83095" marT="41548" marB="41548" anchor="ctr"/>
                </a:tc>
                <a:extLst>
                  <a:ext uri="{0D108BD9-81ED-4DB2-BD59-A6C34878D82A}">
                    <a16:rowId xmlns:a16="http://schemas.microsoft.com/office/drawing/2014/main" val="1072315382"/>
                  </a:ext>
                </a:extLst>
              </a:tr>
              <a:tr h="332381">
                <a:tc>
                  <a:txBody>
                    <a:bodyPr/>
                    <a:lstStyle/>
                    <a:p>
                      <a:pPr>
                        <a:buNone/>
                      </a:pPr>
                      <a:r>
                        <a:rPr lang="en-IN" sz="1600"/>
                        <a:t>Testing samples</a:t>
                      </a:r>
                    </a:p>
                  </a:txBody>
                  <a:tcPr marL="83095" marR="83095" marT="41548" marB="41548" anchor="ctr"/>
                </a:tc>
                <a:tc>
                  <a:txBody>
                    <a:bodyPr/>
                    <a:lstStyle/>
                    <a:p>
                      <a:pPr>
                        <a:buNone/>
                      </a:pPr>
                      <a:r>
                        <a:rPr lang="en-IN" sz="1600" dirty="0"/>
                        <a:t>1,299</a:t>
                      </a:r>
                    </a:p>
                  </a:txBody>
                  <a:tcPr marL="83095" marR="83095" marT="41548" marB="41548" anchor="ctr"/>
                </a:tc>
                <a:extLst>
                  <a:ext uri="{0D108BD9-81ED-4DB2-BD59-A6C34878D82A}">
                    <a16:rowId xmlns:a16="http://schemas.microsoft.com/office/drawing/2014/main" val="1245332285"/>
                  </a:ext>
                </a:extLst>
              </a:tr>
            </a:tbl>
          </a:graphicData>
        </a:graphic>
      </p:graphicFrame>
      <p:sp>
        <p:nvSpPr>
          <p:cNvPr id="5" name="Slide Number Placeholder 4">
            <a:extLst>
              <a:ext uri="{FF2B5EF4-FFF2-40B4-BE49-F238E27FC236}">
                <a16:creationId xmlns:a16="http://schemas.microsoft.com/office/drawing/2014/main" id="{9BC2C403-9E3D-8112-ABAD-822BFEE9AB05}"/>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17</a:t>
            </a:fld>
            <a:endParaRPr lang="en-US" dirty="0"/>
          </a:p>
        </p:txBody>
      </p:sp>
      <p:graphicFrame>
        <p:nvGraphicFramePr>
          <p:cNvPr id="6" name="Table 5">
            <a:extLst>
              <a:ext uri="{FF2B5EF4-FFF2-40B4-BE49-F238E27FC236}">
                <a16:creationId xmlns:a16="http://schemas.microsoft.com/office/drawing/2014/main" id="{E9E31DF0-1628-F751-DE0D-B2A41B2E399F}"/>
              </a:ext>
            </a:extLst>
          </p:cNvPr>
          <p:cNvGraphicFramePr>
            <a:graphicFrameLocks noGrp="1"/>
          </p:cNvGraphicFramePr>
          <p:nvPr>
            <p:extLst>
              <p:ext uri="{D42A27DB-BD31-4B8C-83A1-F6EECF244321}">
                <p14:modId xmlns:p14="http://schemas.microsoft.com/office/powerpoint/2010/main" val="1967077079"/>
              </p:ext>
            </p:extLst>
          </p:nvPr>
        </p:nvGraphicFramePr>
        <p:xfrm>
          <a:off x="709740" y="4483446"/>
          <a:ext cx="10263285" cy="1463040"/>
        </p:xfrm>
        <a:graphic>
          <a:graphicData uri="http://schemas.openxmlformats.org/drawingml/2006/table">
            <a:tbl>
              <a:tblPr>
                <a:tableStyleId>{5C22544A-7EE6-4342-B048-85BDC9FD1C3A}</a:tableStyleId>
              </a:tblPr>
              <a:tblGrid>
                <a:gridCol w="3421095">
                  <a:extLst>
                    <a:ext uri="{9D8B030D-6E8A-4147-A177-3AD203B41FA5}">
                      <a16:colId xmlns:a16="http://schemas.microsoft.com/office/drawing/2014/main" val="277023417"/>
                    </a:ext>
                  </a:extLst>
                </a:gridCol>
                <a:gridCol w="3421095">
                  <a:extLst>
                    <a:ext uri="{9D8B030D-6E8A-4147-A177-3AD203B41FA5}">
                      <a16:colId xmlns:a16="http://schemas.microsoft.com/office/drawing/2014/main" val="3827307110"/>
                    </a:ext>
                  </a:extLst>
                </a:gridCol>
                <a:gridCol w="3421095">
                  <a:extLst>
                    <a:ext uri="{9D8B030D-6E8A-4147-A177-3AD203B41FA5}">
                      <a16:colId xmlns:a16="http://schemas.microsoft.com/office/drawing/2014/main" val="2148051501"/>
                    </a:ext>
                  </a:extLst>
                </a:gridCol>
              </a:tblGrid>
              <a:tr h="0">
                <a:tc>
                  <a:txBody>
                    <a:bodyPr/>
                    <a:lstStyle/>
                    <a:p>
                      <a:pPr>
                        <a:buNone/>
                      </a:pPr>
                      <a:r>
                        <a:rPr lang="en-IN"/>
                        <a:t>Split</a:t>
                      </a:r>
                    </a:p>
                  </a:txBody>
                  <a:tcPr anchor="ctr"/>
                </a:tc>
                <a:tc>
                  <a:txBody>
                    <a:bodyPr/>
                    <a:lstStyle/>
                    <a:p>
                      <a:pPr>
                        <a:buNone/>
                      </a:pPr>
                      <a:r>
                        <a:rPr lang="en-IN"/>
                        <a:t>Real</a:t>
                      </a:r>
                    </a:p>
                  </a:txBody>
                  <a:tcPr anchor="ctr"/>
                </a:tc>
                <a:tc>
                  <a:txBody>
                    <a:bodyPr/>
                    <a:lstStyle/>
                    <a:p>
                      <a:pPr>
                        <a:buNone/>
                      </a:pPr>
                      <a:r>
                        <a:rPr lang="en-IN"/>
                        <a:t>Fake</a:t>
                      </a:r>
                    </a:p>
                  </a:txBody>
                  <a:tcPr anchor="ctr"/>
                </a:tc>
                <a:extLst>
                  <a:ext uri="{0D108BD9-81ED-4DB2-BD59-A6C34878D82A}">
                    <a16:rowId xmlns:a16="http://schemas.microsoft.com/office/drawing/2014/main" val="3029870505"/>
                  </a:ext>
                </a:extLst>
              </a:tr>
              <a:tr h="0">
                <a:tc>
                  <a:txBody>
                    <a:bodyPr/>
                    <a:lstStyle/>
                    <a:p>
                      <a:pPr>
                        <a:buNone/>
                      </a:pPr>
                      <a:r>
                        <a:rPr lang="en-IN" dirty="0"/>
                        <a:t>Training</a:t>
                      </a:r>
                    </a:p>
                  </a:txBody>
                  <a:tcPr anchor="ctr"/>
                </a:tc>
                <a:tc>
                  <a:txBody>
                    <a:bodyPr/>
                    <a:lstStyle/>
                    <a:p>
                      <a:pPr>
                        <a:buNone/>
                      </a:pPr>
                      <a:r>
                        <a:rPr lang="en-IN"/>
                        <a:t>2,974</a:t>
                      </a:r>
                    </a:p>
                  </a:txBody>
                  <a:tcPr anchor="ctr"/>
                </a:tc>
                <a:tc>
                  <a:txBody>
                    <a:bodyPr/>
                    <a:lstStyle/>
                    <a:p>
                      <a:pPr>
                        <a:buNone/>
                      </a:pPr>
                      <a:r>
                        <a:rPr lang="en-IN" dirty="0"/>
                        <a:t>3,083</a:t>
                      </a:r>
                    </a:p>
                  </a:txBody>
                  <a:tcPr anchor="ctr"/>
                </a:tc>
                <a:extLst>
                  <a:ext uri="{0D108BD9-81ED-4DB2-BD59-A6C34878D82A}">
                    <a16:rowId xmlns:a16="http://schemas.microsoft.com/office/drawing/2014/main" val="3251032275"/>
                  </a:ext>
                </a:extLst>
              </a:tr>
              <a:tr h="0">
                <a:tc>
                  <a:txBody>
                    <a:bodyPr/>
                    <a:lstStyle/>
                    <a:p>
                      <a:pPr>
                        <a:buNone/>
                      </a:pPr>
                      <a:r>
                        <a:rPr lang="en-IN" dirty="0"/>
                        <a:t>Validation</a:t>
                      </a:r>
                    </a:p>
                  </a:txBody>
                  <a:tcPr anchor="ctr"/>
                </a:tc>
                <a:tc>
                  <a:txBody>
                    <a:bodyPr/>
                    <a:lstStyle/>
                    <a:p>
                      <a:pPr>
                        <a:buNone/>
                      </a:pPr>
                      <a:r>
                        <a:rPr lang="en-IN" dirty="0"/>
                        <a:t>595</a:t>
                      </a:r>
                    </a:p>
                  </a:txBody>
                  <a:tcPr anchor="ctr"/>
                </a:tc>
                <a:tc>
                  <a:txBody>
                    <a:bodyPr/>
                    <a:lstStyle/>
                    <a:p>
                      <a:pPr>
                        <a:buNone/>
                      </a:pPr>
                      <a:r>
                        <a:rPr lang="en-IN" dirty="0"/>
                        <a:t>703</a:t>
                      </a:r>
                    </a:p>
                  </a:txBody>
                  <a:tcPr anchor="ctr"/>
                </a:tc>
                <a:extLst>
                  <a:ext uri="{0D108BD9-81ED-4DB2-BD59-A6C34878D82A}">
                    <a16:rowId xmlns:a16="http://schemas.microsoft.com/office/drawing/2014/main" val="2769837813"/>
                  </a:ext>
                </a:extLst>
              </a:tr>
              <a:tr h="0">
                <a:tc>
                  <a:txBody>
                    <a:bodyPr/>
                    <a:lstStyle/>
                    <a:p>
                      <a:pPr>
                        <a:buNone/>
                      </a:pPr>
                      <a:r>
                        <a:rPr lang="en-IN"/>
                        <a:t>Testing</a:t>
                      </a:r>
                    </a:p>
                  </a:txBody>
                  <a:tcPr anchor="ctr"/>
                </a:tc>
                <a:tc>
                  <a:txBody>
                    <a:bodyPr/>
                    <a:lstStyle/>
                    <a:p>
                      <a:pPr>
                        <a:buNone/>
                      </a:pPr>
                      <a:r>
                        <a:rPr lang="en-IN"/>
                        <a:t>650</a:t>
                      </a:r>
                    </a:p>
                  </a:txBody>
                  <a:tcPr anchor="ctr"/>
                </a:tc>
                <a:tc>
                  <a:txBody>
                    <a:bodyPr/>
                    <a:lstStyle/>
                    <a:p>
                      <a:pPr>
                        <a:buNone/>
                      </a:pPr>
                      <a:r>
                        <a:rPr lang="en-IN" dirty="0"/>
                        <a:t>649</a:t>
                      </a:r>
                    </a:p>
                  </a:txBody>
                  <a:tcPr anchor="ctr"/>
                </a:tc>
                <a:extLst>
                  <a:ext uri="{0D108BD9-81ED-4DB2-BD59-A6C34878D82A}">
                    <a16:rowId xmlns:a16="http://schemas.microsoft.com/office/drawing/2014/main" val="206671452"/>
                  </a:ext>
                </a:extLst>
              </a:tr>
            </a:tbl>
          </a:graphicData>
        </a:graphic>
      </p:graphicFrame>
    </p:spTree>
    <p:extLst>
      <p:ext uri="{BB962C8B-B14F-4D97-AF65-F5344CB8AC3E}">
        <p14:creationId xmlns:p14="http://schemas.microsoft.com/office/powerpoint/2010/main" val="346816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0D8A2-3C45-F6C5-38BC-F708024E8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10947-48F8-F16E-5242-1CA2DD86A777}"/>
              </a:ext>
            </a:extLst>
          </p:cNvPr>
          <p:cNvSpPr>
            <a:spLocks noGrp="1"/>
          </p:cNvSpPr>
          <p:nvPr>
            <p:ph type="title"/>
          </p:nvPr>
        </p:nvSpPr>
        <p:spPr>
          <a:xfrm>
            <a:off x="834063" y="0"/>
            <a:ext cx="10122632" cy="832757"/>
          </a:xfrm>
        </p:spPr>
        <p:txBody>
          <a:bodyPr/>
          <a:lstStyle/>
          <a:p>
            <a:r>
              <a:rPr lang="en-IN" spc="0" dirty="0"/>
              <a:t>Implementation</a:t>
            </a:r>
            <a:endParaRPr lang="en-US" spc="0" dirty="0"/>
          </a:p>
        </p:txBody>
      </p:sp>
      <p:sp>
        <p:nvSpPr>
          <p:cNvPr id="5" name="Slide Number Placeholder 4">
            <a:extLst>
              <a:ext uri="{FF2B5EF4-FFF2-40B4-BE49-F238E27FC236}">
                <a16:creationId xmlns:a16="http://schemas.microsoft.com/office/drawing/2014/main" id="{7F57161A-5CB4-9DE2-A023-6A1A6AF2C06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18</a:t>
            </a:fld>
            <a:endParaRPr lang="en-US" dirty="0"/>
          </a:p>
        </p:txBody>
      </p:sp>
      <p:pic>
        <p:nvPicPr>
          <p:cNvPr id="6" name="Picture 5">
            <a:extLst>
              <a:ext uri="{FF2B5EF4-FFF2-40B4-BE49-F238E27FC236}">
                <a16:creationId xmlns:a16="http://schemas.microsoft.com/office/drawing/2014/main" id="{EBF43915-563F-C1DD-2CFE-2101CD6F7956}"/>
              </a:ext>
            </a:extLst>
          </p:cNvPr>
          <p:cNvPicPr>
            <a:picLocks noChangeAspect="1"/>
          </p:cNvPicPr>
          <p:nvPr/>
        </p:nvPicPr>
        <p:blipFill>
          <a:blip r:embed="rId2"/>
          <a:srcRect t="8587"/>
          <a:stretch>
            <a:fillRect/>
          </a:stretch>
        </p:blipFill>
        <p:spPr>
          <a:xfrm>
            <a:off x="768208" y="1077686"/>
            <a:ext cx="10287000" cy="5780313"/>
          </a:xfrm>
          <a:prstGeom prst="rect">
            <a:avLst/>
          </a:prstGeom>
        </p:spPr>
      </p:pic>
    </p:spTree>
    <p:extLst>
      <p:ext uri="{BB962C8B-B14F-4D97-AF65-F5344CB8AC3E}">
        <p14:creationId xmlns:p14="http://schemas.microsoft.com/office/powerpoint/2010/main" val="297422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BD65E-F8B4-C55A-95FE-1B485212A2CC}"/>
              </a:ext>
            </a:extLst>
          </p:cNvPr>
          <p:cNvSpPr>
            <a:spLocks noGrp="1"/>
          </p:cNvSpPr>
          <p:nvPr>
            <p:ph type="title"/>
          </p:nvPr>
        </p:nvSpPr>
        <p:spPr>
          <a:xfrm>
            <a:off x="850392" y="182880"/>
            <a:ext cx="10122632" cy="649877"/>
          </a:xfrm>
        </p:spPr>
        <p:txBody>
          <a:bodyPr/>
          <a:lstStyle/>
          <a:p>
            <a:r>
              <a:rPr lang="en-IN" spc="0" dirty="0"/>
              <a:t>results</a:t>
            </a:r>
          </a:p>
        </p:txBody>
      </p:sp>
      <p:graphicFrame>
        <p:nvGraphicFramePr>
          <p:cNvPr id="6" name="Content Placeholder 5">
            <a:extLst>
              <a:ext uri="{FF2B5EF4-FFF2-40B4-BE49-F238E27FC236}">
                <a16:creationId xmlns:a16="http://schemas.microsoft.com/office/drawing/2014/main" id="{9203D271-AFF3-B993-31BF-03BE9D5AAED1}"/>
              </a:ext>
            </a:extLst>
          </p:cNvPr>
          <p:cNvGraphicFramePr>
            <a:graphicFrameLocks noGrp="1"/>
          </p:cNvGraphicFramePr>
          <p:nvPr>
            <p:ph sz="half" idx="12"/>
            <p:extLst>
              <p:ext uri="{D42A27DB-BD31-4B8C-83A1-F6EECF244321}">
                <p14:modId xmlns:p14="http://schemas.microsoft.com/office/powerpoint/2010/main" val="398765852"/>
              </p:ext>
            </p:extLst>
          </p:nvPr>
        </p:nvGraphicFramePr>
        <p:xfrm>
          <a:off x="850392" y="1216056"/>
          <a:ext cx="10085388" cy="997143"/>
        </p:xfrm>
        <a:graphic>
          <a:graphicData uri="http://schemas.openxmlformats.org/drawingml/2006/table">
            <a:tbl>
              <a:tblPr>
                <a:tableStyleId>{5C22544A-7EE6-4342-B048-85BDC9FD1C3A}</a:tableStyleId>
              </a:tblPr>
              <a:tblGrid>
                <a:gridCol w="3361796">
                  <a:extLst>
                    <a:ext uri="{9D8B030D-6E8A-4147-A177-3AD203B41FA5}">
                      <a16:colId xmlns:a16="http://schemas.microsoft.com/office/drawing/2014/main" val="334074335"/>
                    </a:ext>
                  </a:extLst>
                </a:gridCol>
                <a:gridCol w="3361796">
                  <a:extLst>
                    <a:ext uri="{9D8B030D-6E8A-4147-A177-3AD203B41FA5}">
                      <a16:colId xmlns:a16="http://schemas.microsoft.com/office/drawing/2014/main" val="532703877"/>
                    </a:ext>
                  </a:extLst>
                </a:gridCol>
                <a:gridCol w="3361796">
                  <a:extLst>
                    <a:ext uri="{9D8B030D-6E8A-4147-A177-3AD203B41FA5}">
                      <a16:colId xmlns:a16="http://schemas.microsoft.com/office/drawing/2014/main" val="4115874393"/>
                    </a:ext>
                  </a:extLst>
                </a:gridCol>
              </a:tblGrid>
              <a:tr h="332381">
                <a:tc>
                  <a:txBody>
                    <a:bodyPr/>
                    <a:lstStyle/>
                    <a:p>
                      <a:pPr>
                        <a:buNone/>
                      </a:pPr>
                      <a:r>
                        <a:rPr lang="en-IN" sz="1600"/>
                        <a:t>Model</a:t>
                      </a:r>
                    </a:p>
                  </a:txBody>
                  <a:tcPr marL="83095" marR="83095" marT="41548" marB="41548" anchor="ctr"/>
                </a:tc>
                <a:tc>
                  <a:txBody>
                    <a:bodyPr/>
                    <a:lstStyle/>
                    <a:p>
                      <a:pPr>
                        <a:buNone/>
                      </a:pPr>
                      <a:r>
                        <a:rPr lang="en-IN" sz="1600"/>
                        <a:t>Test Loss</a:t>
                      </a:r>
                    </a:p>
                  </a:txBody>
                  <a:tcPr marL="83095" marR="83095" marT="41548" marB="41548" anchor="ctr"/>
                </a:tc>
                <a:tc>
                  <a:txBody>
                    <a:bodyPr/>
                    <a:lstStyle/>
                    <a:p>
                      <a:pPr>
                        <a:buNone/>
                      </a:pPr>
                      <a:r>
                        <a:rPr lang="en-IN" sz="1600"/>
                        <a:t>Test Accuracy</a:t>
                      </a:r>
                    </a:p>
                  </a:txBody>
                  <a:tcPr marL="83095" marR="83095" marT="41548" marB="41548" anchor="ctr"/>
                </a:tc>
                <a:extLst>
                  <a:ext uri="{0D108BD9-81ED-4DB2-BD59-A6C34878D82A}">
                    <a16:rowId xmlns:a16="http://schemas.microsoft.com/office/drawing/2014/main" val="3624452814"/>
                  </a:ext>
                </a:extLst>
              </a:tr>
              <a:tr h="332381">
                <a:tc>
                  <a:txBody>
                    <a:bodyPr/>
                    <a:lstStyle/>
                    <a:p>
                      <a:pPr>
                        <a:buNone/>
                      </a:pPr>
                      <a:r>
                        <a:rPr lang="en-IN" sz="1600"/>
                        <a:t>Bi-LSTM</a:t>
                      </a:r>
                    </a:p>
                  </a:txBody>
                  <a:tcPr marL="83095" marR="83095" marT="41548" marB="41548" anchor="ctr"/>
                </a:tc>
                <a:tc>
                  <a:txBody>
                    <a:bodyPr/>
                    <a:lstStyle/>
                    <a:p>
                      <a:pPr>
                        <a:buNone/>
                      </a:pPr>
                      <a:r>
                        <a:rPr lang="en-IN" sz="1600" dirty="0"/>
                        <a:t>0.3424</a:t>
                      </a:r>
                    </a:p>
                  </a:txBody>
                  <a:tcPr marL="83095" marR="83095" marT="41548" marB="41548" anchor="ctr"/>
                </a:tc>
                <a:tc>
                  <a:txBody>
                    <a:bodyPr/>
                    <a:lstStyle/>
                    <a:p>
                      <a:pPr>
                        <a:buNone/>
                      </a:pPr>
                      <a:r>
                        <a:rPr lang="en-IN" sz="1600"/>
                        <a:t>88.84%</a:t>
                      </a:r>
                    </a:p>
                  </a:txBody>
                  <a:tcPr marL="83095" marR="83095" marT="41548" marB="41548" anchor="ctr"/>
                </a:tc>
                <a:extLst>
                  <a:ext uri="{0D108BD9-81ED-4DB2-BD59-A6C34878D82A}">
                    <a16:rowId xmlns:a16="http://schemas.microsoft.com/office/drawing/2014/main" val="2757942736"/>
                  </a:ext>
                </a:extLst>
              </a:tr>
              <a:tr h="332381">
                <a:tc>
                  <a:txBody>
                    <a:bodyPr/>
                    <a:lstStyle/>
                    <a:p>
                      <a:pPr>
                        <a:buNone/>
                      </a:pPr>
                      <a:r>
                        <a:rPr lang="en-IN" sz="1600"/>
                        <a:t>BERT</a:t>
                      </a:r>
                    </a:p>
                  </a:txBody>
                  <a:tcPr marL="83095" marR="83095" marT="41548" marB="41548" anchor="ctr"/>
                </a:tc>
                <a:tc>
                  <a:txBody>
                    <a:bodyPr/>
                    <a:lstStyle/>
                    <a:p>
                      <a:pPr>
                        <a:buNone/>
                      </a:pPr>
                      <a:r>
                        <a:rPr lang="en-IN" sz="1600"/>
                        <a:t>0.1557</a:t>
                      </a:r>
                    </a:p>
                  </a:txBody>
                  <a:tcPr marL="83095" marR="83095" marT="41548" marB="41548" anchor="ctr"/>
                </a:tc>
                <a:tc>
                  <a:txBody>
                    <a:bodyPr/>
                    <a:lstStyle/>
                    <a:p>
                      <a:pPr>
                        <a:buNone/>
                      </a:pPr>
                      <a:r>
                        <a:rPr lang="en-IN" sz="1600" dirty="0"/>
                        <a:t>96.23%</a:t>
                      </a:r>
                    </a:p>
                  </a:txBody>
                  <a:tcPr marL="83095" marR="83095" marT="41548" marB="41548" anchor="ctr"/>
                </a:tc>
                <a:extLst>
                  <a:ext uri="{0D108BD9-81ED-4DB2-BD59-A6C34878D82A}">
                    <a16:rowId xmlns:a16="http://schemas.microsoft.com/office/drawing/2014/main" val="357749039"/>
                  </a:ext>
                </a:extLst>
              </a:tr>
            </a:tbl>
          </a:graphicData>
        </a:graphic>
      </p:graphicFrame>
      <p:sp>
        <p:nvSpPr>
          <p:cNvPr id="5" name="Slide Number Placeholder 4">
            <a:extLst>
              <a:ext uri="{FF2B5EF4-FFF2-40B4-BE49-F238E27FC236}">
                <a16:creationId xmlns:a16="http://schemas.microsoft.com/office/drawing/2014/main" id="{30EC82E5-FF97-B98F-C852-CEAD82DBAB47}"/>
              </a:ext>
            </a:extLst>
          </p:cNvPr>
          <p:cNvSpPr>
            <a:spLocks noGrp="1"/>
          </p:cNvSpPr>
          <p:nvPr>
            <p:ph type="sldNum" sz="quarter" idx="11"/>
          </p:nvPr>
        </p:nvSpPr>
        <p:spPr/>
        <p:txBody>
          <a:bodyPr/>
          <a:lstStyle/>
          <a:p>
            <a:fld id="{09A01C0A-2BB6-49E7-91A3-DCB9F9F59583}" type="slidenum">
              <a:rPr lang="en-US" smtClean="0"/>
              <a:pPr/>
              <a:t>19</a:t>
            </a:fld>
            <a:endParaRPr lang="en-US" dirty="0"/>
          </a:p>
        </p:txBody>
      </p:sp>
      <p:sp>
        <p:nvSpPr>
          <p:cNvPr id="8" name="TextBox 7">
            <a:extLst>
              <a:ext uri="{FF2B5EF4-FFF2-40B4-BE49-F238E27FC236}">
                <a16:creationId xmlns:a16="http://schemas.microsoft.com/office/drawing/2014/main" id="{F9C370A5-9E60-B75F-5895-F2EEA2B058A1}"/>
              </a:ext>
            </a:extLst>
          </p:cNvPr>
          <p:cNvSpPr txBox="1"/>
          <p:nvPr/>
        </p:nvSpPr>
        <p:spPr>
          <a:xfrm>
            <a:off x="442543" y="2596498"/>
            <a:ext cx="10938329" cy="2862322"/>
          </a:xfrm>
          <a:prstGeom prst="rect">
            <a:avLst/>
          </a:prstGeom>
          <a:noFill/>
        </p:spPr>
        <p:txBody>
          <a:bodyPr wrap="square">
            <a:spAutoFit/>
          </a:bodyPr>
          <a:lstStyle/>
          <a:p>
            <a:pPr>
              <a:buNone/>
            </a:pPr>
            <a:r>
              <a:rPr lang="en-IN" dirty="0"/>
              <a:t>The models were evaluated using the held-out test dataset.</a:t>
            </a:r>
          </a:p>
          <a:p>
            <a:pPr>
              <a:buNone/>
            </a:pPr>
            <a:r>
              <a:rPr lang="en-IN" b="1" dirty="0"/>
              <a:t>Result Analysis</a:t>
            </a:r>
          </a:p>
          <a:p>
            <a:pPr>
              <a:buNone/>
            </a:pPr>
            <a:r>
              <a:rPr lang="en-IN" dirty="0"/>
              <a:t>BERT achieved higher test accuracy and lower test loss than Bi-LSTM. This indicates that BERT was better able to capture contextual relationships and subtle linguistic patterns in the news articles.</a:t>
            </a:r>
          </a:p>
          <a:p>
            <a:pPr>
              <a:buNone/>
            </a:pPr>
            <a:r>
              <a:rPr lang="en-IN" dirty="0"/>
              <a:t>The saved project artifacts contain test loss and test accuracy. Precision, recall, and F1-score were not stored in the final metric files and should not be reported unless they are recomputed from test-set predictions.</a:t>
            </a:r>
          </a:p>
          <a:p>
            <a:pPr>
              <a:buNone/>
            </a:pPr>
            <a:r>
              <a:rPr lang="en-IN" b="1" dirty="0"/>
              <a:t>Training Trend</a:t>
            </a:r>
          </a:p>
          <a:p>
            <a:pPr>
              <a:buNone/>
            </a:pPr>
            <a:r>
              <a:rPr lang="en-IN" dirty="0"/>
              <a:t>The Bi-LSTM validation accuracy increased from approximately 73.81% to 89.37%.</a:t>
            </a:r>
          </a:p>
          <a:p>
            <a:pPr>
              <a:buNone/>
            </a:pPr>
            <a:r>
              <a:rPr lang="en-IN" dirty="0"/>
              <a:t>The BERT validation accuracy increased from approximately 93.91% to 96.92% during training.</a:t>
            </a:r>
          </a:p>
        </p:txBody>
      </p:sp>
    </p:spTree>
    <p:extLst>
      <p:ext uri="{BB962C8B-B14F-4D97-AF65-F5344CB8AC3E}">
        <p14:creationId xmlns:p14="http://schemas.microsoft.com/office/powerpoint/2010/main" val="3802747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637C0-CF62-7CC9-AD6B-0FB8EE626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E425A-ED49-6DE7-8767-9B614BB66FD4}"/>
              </a:ext>
            </a:extLst>
          </p:cNvPr>
          <p:cNvSpPr>
            <a:spLocks noGrp="1"/>
          </p:cNvSpPr>
          <p:nvPr>
            <p:ph type="title"/>
          </p:nvPr>
        </p:nvSpPr>
        <p:spPr>
          <a:xfrm>
            <a:off x="571500" y="182880"/>
            <a:ext cx="10238238" cy="649877"/>
          </a:xfrm>
        </p:spPr>
        <p:txBody>
          <a:bodyPr/>
          <a:lstStyle/>
          <a:p>
            <a:r>
              <a:rPr lang="en-IN" spc="0" dirty="0"/>
              <a:t>Advantages</a:t>
            </a:r>
          </a:p>
        </p:txBody>
      </p:sp>
      <p:sp>
        <p:nvSpPr>
          <p:cNvPr id="5" name="Slide Number Placeholder 4">
            <a:extLst>
              <a:ext uri="{FF2B5EF4-FFF2-40B4-BE49-F238E27FC236}">
                <a16:creationId xmlns:a16="http://schemas.microsoft.com/office/drawing/2014/main" id="{E2EF9991-A121-5C65-66D2-F7FA5F2B7614}"/>
              </a:ext>
            </a:extLst>
          </p:cNvPr>
          <p:cNvSpPr>
            <a:spLocks noGrp="1"/>
          </p:cNvSpPr>
          <p:nvPr>
            <p:ph type="sldNum" sz="quarter" idx="11"/>
          </p:nvPr>
        </p:nvSpPr>
        <p:spPr/>
        <p:txBody>
          <a:bodyPr/>
          <a:lstStyle/>
          <a:p>
            <a:fld id="{09A01C0A-2BB6-49E7-91A3-DCB9F9F59583}" type="slidenum">
              <a:rPr lang="en-US" smtClean="0"/>
              <a:pPr/>
              <a:t>20</a:t>
            </a:fld>
            <a:endParaRPr lang="en-US" dirty="0"/>
          </a:p>
        </p:txBody>
      </p:sp>
      <p:sp>
        <p:nvSpPr>
          <p:cNvPr id="8" name="TextBox 7">
            <a:extLst>
              <a:ext uri="{FF2B5EF4-FFF2-40B4-BE49-F238E27FC236}">
                <a16:creationId xmlns:a16="http://schemas.microsoft.com/office/drawing/2014/main" id="{F050315A-F0B4-C8B8-3D41-5D83C8AF2352}"/>
              </a:ext>
            </a:extLst>
          </p:cNvPr>
          <p:cNvSpPr txBox="1"/>
          <p:nvPr/>
        </p:nvSpPr>
        <p:spPr>
          <a:xfrm>
            <a:off x="442543" y="1273883"/>
            <a:ext cx="10938329" cy="3139321"/>
          </a:xfrm>
          <a:prstGeom prst="rect">
            <a:avLst/>
          </a:prstGeom>
          <a:noFill/>
        </p:spPr>
        <p:txBody>
          <a:bodyPr wrap="square">
            <a:spAutoFit/>
          </a:bodyPr>
          <a:lstStyle/>
          <a:p>
            <a:r>
              <a:rPr lang="en-IN" dirty="0"/>
              <a:t>The proposed system provides the following advantages:</a:t>
            </a:r>
          </a:p>
          <a:p>
            <a:pPr lvl="0"/>
            <a:r>
              <a:rPr lang="en-IN" dirty="0"/>
              <a:t>Automates initial fake-news screening.</a:t>
            </a:r>
          </a:p>
          <a:p>
            <a:pPr lvl="0"/>
            <a:r>
              <a:rPr lang="en-IN" dirty="0"/>
              <a:t>Reduces manual verification effort.</a:t>
            </a:r>
          </a:p>
          <a:p>
            <a:pPr lvl="0"/>
            <a:r>
              <a:rPr lang="en-IN" dirty="0"/>
              <a:t>Uses contextual deep-learning models.</a:t>
            </a:r>
          </a:p>
          <a:p>
            <a:pPr lvl="0"/>
            <a:r>
              <a:rPr lang="en-IN" dirty="0"/>
              <a:t>Compares two different NLP architectures.</a:t>
            </a:r>
          </a:p>
          <a:p>
            <a:pPr lvl="0"/>
            <a:r>
              <a:rPr lang="en-IN" dirty="0"/>
              <a:t>Provides real-time predictions.</a:t>
            </a:r>
          </a:p>
          <a:p>
            <a:pPr lvl="0"/>
            <a:r>
              <a:rPr lang="en-IN" dirty="0"/>
              <a:t>Supports single-model and dual-model inference.</a:t>
            </a:r>
          </a:p>
          <a:p>
            <a:pPr lvl="0"/>
            <a:r>
              <a:rPr lang="en-IN" dirty="0"/>
              <a:t>Displays confidence scores.</a:t>
            </a:r>
          </a:p>
          <a:p>
            <a:pPr lvl="0"/>
            <a:r>
              <a:rPr lang="en-IN" dirty="0"/>
              <a:t>Uses a balanced real/fake test dataset.</a:t>
            </a:r>
          </a:p>
          <a:p>
            <a:pPr lvl="0"/>
            <a:r>
              <a:rPr lang="en-IN" dirty="0"/>
              <a:t>Provides an easy-to-use web interface.</a:t>
            </a:r>
          </a:p>
          <a:p>
            <a:pPr lvl="0"/>
            <a:r>
              <a:rPr lang="en-IN" dirty="0"/>
              <a:t>Can be extended for batch prediction and deployment.</a:t>
            </a:r>
          </a:p>
        </p:txBody>
      </p:sp>
    </p:spTree>
    <p:extLst>
      <p:ext uri="{BB962C8B-B14F-4D97-AF65-F5344CB8AC3E}">
        <p14:creationId xmlns:p14="http://schemas.microsoft.com/office/powerpoint/2010/main" val="1279937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0F67C-4305-5F27-EE67-017702135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AE112-665D-7ACF-36CE-1D6FC48C05AC}"/>
              </a:ext>
            </a:extLst>
          </p:cNvPr>
          <p:cNvSpPr>
            <a:spLocks noGrp="1"/>
          </p:cNvSpPr>
          <p:nvPr>
            <p:ph type="title"/>
          </p:nvPr>
        </p:nvSpPr>
        <p:spPr>
          <a:xfrm>
            <a:off x="571500" y="182880"/>
            <a:ext cx="10238238" cy="649877"/>
          </a:xfrm>
        </p:spPr>
        <p:txBody>
          <a:bodyPr/>
          <a:lstStyle/>
          <a:p>
            <a:r>
              <a:rPr lang="en-IN" spc="0" dirty="0"/>
              <a:t>Applications</a:t>
            </a:r>
          </a:p>
        </p:txBody>
      </p:sp>
      <p:sp>
        <p:nvSpPr>
          <p:cNvPr id="5" name="Slide Number Placeholder 4">
            <a:extLst>
              <a:ext uri="{FF2B5EF4-FFF2-40B4-BE49-F238E27FC236}">
                <a16:creationId xmlns:a16="http://schemas.microsoft.com/office/drawing/2014/main" id="{0F42B382-27C2-3809-7FD9-8297987A5A64}"/>
              </a:ext>
            </a:extLst>
          </p:cNvPr>
          <p:cNvSpPr>
            <a:spLocks noGrp="1"/>
          </p:cNvSpPr>
          <p:nvPr>
            <p:ph type="sldNum" sz="quarter" idx="11"/>
          </p:nvPr>
        </p:nvSpPr>
        <p:spPr/>
        <p:txBody>
          <a:bodyPr/>
          <a:lstStyle/>
          <a:p>
            <a:fld id="{09A01C0A-2BB6-49E7-91A3-DCB9F9F59583}" type="slidenum">
              <a:rPr lang="en-US" smtClean="0"/>
              <a:pPr/>
              <a:t>21</a:t>
            </a:fld>
            <a:endParaRPr lang="en-US" dirty="0"/>
          </a:p>
        </p:txBody>
      </p:sp>
      <p:sp>
        <p:nvSpPr>
          <p:cNvPr id="8" name="TextBox 7">
            <a:extLst>
              <a:ext uri="{FF2B5EF4-FFF2-40B4-BE49-F238E27FC236}">
                <a16:creationId xmlns:a16="http://schemas.microsoft.com/office/drawing/2014/main" id="{EA4EC8B9-5483-2C40-F678-3253F636AA26}"/>
              </a:ext>
            </a:extLst>
          </p:cNvPr>
          <p:cNvSpPr txBox="1"/>
          <p:nvPr/>
        </p:nvSpPr>
        <p:spPr>
          <a:xfrm>
            <a:off x="442543" y="1273883"/>
            <a:ext cx="10938329" cy="3693319"/>
          </a:xfrm>
          <a:prstGeom prst="rect">
            <a:avLst/>
          </a:prstGeom>
          <a:noFill/>
        </p:spPr>
        <p:txBody>
          <a:bodyPr wrap="square">
            <a:spAutoFit/>
          </a:bodyPr>
          <a:lstStyle/>
          <a:p>
            <a:r>
              <a:rPr lang="en-IN" dirty="0"/>
              <a:t>The system can be used in:</a:t>
            </a:r>
          </a:p>
          <a:p>
            <a:pPr marL="285750" lvl="0" indent="-285750">
              <a:buFont typeface="Arial" panose="020B0604020202020204" pitchFamily="34" charset="0"/>
              <a:buChar char="•"/>
            </a:pPr>
            <a:r>
              <a:rPr lang="en-IN" dirty="0"/>
              <a:t>Online news platforms.</a:t>
            </a:r>
          </a:p>
          <a:p>
            <a:pPr marL="285750" lvl="0" indent="-285750">
              <a:buFont typeface="Arial" panose="020B0604020202020204" pitchFamily="34" charset="0"/>
              <a:buChar char="•"/>
            </a:pPr>
            <a:r>
              <a:rPr lang="en-IN" dirty="0"/>
              <a:t>Social-media monitoring.</a:t>
            </a:r>
          </a:p>
          <a:p>
            <a:pPr marL="285750" lvl="0" indent="-285750">
              <a:buFont typeface="Arial" panose="020B0604020202020204" pitchFamily="34" charset="0"/>
              <a:buChar char="•"/>
            </a:pPr>
            <a:r>
              <a:rPr lang="en-IN" dirty="0"/>
              <a:t>Journalism and newsroom support.</a:t>
            </a:r>
          </a:p>
          <a:p>
            <a:pPr marL="285750" lvl="0" indent="-285750">
              <a:buFont typeface="Arial" panose="020B0604020202020204" pitchFamily="34" charset="0"/>
              <a:buChar char="•"/>
            </a:pPr>
            <a:r>
              <a:rPr lang="en-IN" dirty="0"/>
              <a:t>Educational institutions.</a:t>
            </a:r>
          </a:p>
          <a:p>
            <a:pPr marL="285750" lvl="0" indent="-285750">
              <a:buFont typeface="Arial" panose="020B0604020202020204" pitchFamily="34" charset="0"/>
              <a:buChar char="•"/>
            </a:pPr>
            <a:r>
              <a:rPr lang="en-IN" dirty="0"/>
              <a:t>Fact-checking organizations.</a:t>
            </a:r>
          </a:p>
          <a:p>
            <a:pPr marL="285750" lvl="0" indent="-285750">
              <a:buFont typeface="Arial" panose="020B0604020202020204" pitchFamily="34" charset="0"/>
              <a:buChar char="•"/>
            </a:pPr>
            <a:r>
              <a:rPr lang="en-IN" dirty="0"/>
              <a:t>Public-information monitoring.</a:t>
            </a:r>
          </a:p>
          <a:p>
            <a:pPr marL="285750" lvl="0" indent="-285750">
              <a:buFont typeface="Arial" panose="020B0604020202020204" pitchFamily="34" charset="0"/>
              <a:buChar char="•"/>
            </a:pPr>
            <a:r>
              <a:rPr lang="en-IN" dirty="0"/>
              <a:t>Media-literacy applications.</a:t>
            </a:r>
          </a:p>
          <a:p>
            <a:pPr marL="285750" lvl="0" indent="-285750">
              <a:buFont typeface="Arial" panose="020B0604020202020204" pitchFamily="34" charset="0"/>
              <a:buChar char="•"/>
            </a:pPr>
            <a:r>
              <a:rPr lang="en-IN" dirty="0"/>
              <a:t>Government communication systems.</a:t>
            </a:r>
          </a:p>
          <a:p>
            <a:pPr marL="285750" lvl="0" indent="-285750">
              <a:buFont typeface="Arial" panose="020B0604020202020204" pitchFamily="34" charset="0"/>
              <a:buChar char="•"/>
            </a:pPr>
            <a:r>
              <a:rPr lang="en-IN" dirty="0"/>
              <a:t>Research on misinformation detection.</a:t>
            </a:r>
          </a:p>
          <a:p>
            <a:pPr marL="285750" lvl="0" indent="-285750">
              <a:buFont typeface="Arial" panose="020B0604020202020204" pitchFamily="34" charset="0"/>
              <a:buChar char="•"/>
            </a:pPr>
            <a:r>
              <a:rPr lang="en-IN" dirty="0"/>
              <a:t>Browser-based content verification tools.</a:t>
            </a:r>
          </a:p>
          <a:p>
            <a:r>
              <a:rPr lang="en-IN" dirty="0"/>
              <a:t>The system should be treated as a decision-support tool and not as a replacement for professional fact-checking.</a:t>
            </a:r>
          </a:p>
        </p:txBody>
      </p:sp>
    </p:spTree>
    <p:extLst>
      <p:ext uri="{BB962C8B-B14F-4D97-AF65-F5344CB8AC3E}">
        <p14:creationId xmlns:p14="http://schemas.microsoft.com/office/powerpoint/2010/main" val="1190698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4C7D0E2-02CB-6949-0BAB-EA6320BE628A}"/>
              </a:ext>
            </a:extLst>
          </p:cNvPr>
          <p:cNvPicPr>
            <a:picLocks noChangeAspect="1"/>
          </p:cNvPicPr>
          <p:nvPr/>
        </p:nvPicPr>
        <p:blipFill>
          <a:blip r:embed="rId2"/>
          <a:stretch>
            <a:fillRect/>
          </a:stretch>
        </p:blipFill>
        <p:spPr>
          <a:xfrm>
            <a:off x="609600" y="0"/>
            <a:ext cx="10972800" cy="6858000"/>
          </a:xfrm>
          <a:prstGeom prst="rect">
            <a:avLst/>
          </a:prstGeom>
        </p:spPr>
      </p:pic>
    </p:spTree>
    <p:extLst>
      <p:ext uri="{BB962C8B-B14F-4D97-AF65-F5344CB8AC3E}">
        <p14:creationId xmlns:p14="http://schemas.microsoft.com/office/powerpoint/2010/main" val="3174782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37559BD-B4C8-99E1-D1F5-656F293C60DD}"/>
              </a:ext>
            </a:extLst>
          </p:cNvPr>
          <p:cNvPicPr>
            <a:picLocks noChangeAspect="1"/>
          </p:cNvPicPr>
          <p:nvPr/>
        </p:nvPicPr>
        <p:blipFill>
          <a:blip r:embed="rId2"/>
          <a:stretch>
            <a:fillRect/>
          </a:stretch>
        </p:blipFill>
        <p:spPr>
          <a:xfrm>
            <a:off x="609600" y="0"/>
            <a:ext cx="10972800" cy="6858000"/>
          </a:xfrm>
          <a:prstGeom prst="rect">
            <a:avLst/>
          </a:prstGeom>
        </p:spPr>
      </p:pic>
    </p:spTree>
    <p:extLst>
      <p:ext uri="{BB962C8B-B14F-4D97-AF65-F5344CB8AC3E}">
        <p14:creationId xmlns:p14="http://schemas.microsoft.com/office/powerpoint/2010/main" val="903532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B042E-EA67-0789-CC99-F06807439B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CFCEF-1E28-A514-D4E0-1B075560B86B}"/>
              </a:ext>
            </a:extLst>
          </p:cNvPr>
          <p:cNvSpPr>
            <a:spLocks noGrp="1"/>
          </p:cNvSpPr>
          <p:nvPr>
            <p:ph type="title"/>
          </p:nvPr>
        </p:nvSpPr>
        <p:spPr>
          <a:xfrm>
            <a:off x="442543" y="297180"/>
            <a:ext cx="10238238" cy="649877"/>
          </a:xfrm>
        </p:spPr>
        <p:txBody>
          <a:bodyPr/>
          <a:lstStyle/>
          <a:p>
            <a:r>
              <a:rPr lang="en-IN" spc="0" dirty="0"/>
              <a:t>Future Scope</a:t>
            </a:r>
          </a:p>
        </p:txBody>
      </p:sp>
      <p:sp>
        <p:nvSpPr>
          <p:cNvPr id="5" name="Slide Number Placeholder 4">
            <a:extLst>
              <a:ext uri="{FF2B5EF4-FFF2-40B4-BE49-F238E27FC236}">
                <a16:creationId xmlns:a16="http://schemas.microsoft.com/office/drawing/2014/main" id="{2CAA679E-E5C3-1202-0577-A1D0A4307BB8}"/>
              </a:ext>
            </a:extLst>
          </p:cNvPr>
          <p:cNvSpPr>
            <a:spLocks noGrp="1"/>
          </p:cNvSpPr>
          <p:nvPr>
            <p:ph type="sldNum" sz="quarter" idx="11"/>
          </p:nvPr>
        </p:nvSpPr>
        <p:spPr/>
        <p:txBody>
          <a:bodyPr/>
          <a:lstStyle/>
          <a:p>
            <a:fld id="{09A01C0A-2BB6-49E7-91A3-DCB9F9F59583}" type="slidenum">
              <a:rPr lang="en-US" smtClean="0"/>
              <a:pPr/>
              <a:t>24</a:t>
            </a:fld>
            <a:endParaRPr lang="en-US" dirty="0"/>
          </a:p>
        </p:txBody>
      </p:sp>
      <p:sp>
        <p:nvSpPr>
          <p:cNvPr id="8" name="TextBox 7">
            <a:extLst>
              <a:ext uri="{FF2B5EF4-FFF2-40B4-BE49-F238E27FC236}">
                <a16:creationId xmlns:a16="http://schemas.microsoft.com/office/drawing/2014/main" id="{C5B425CF-88E7-7D0D-3FC0-DFE8C97B70E4}"/>
              </a:ext>
            </a:extLst>
          </p:cNvPr>
          <p:cNvSpPr txBox="1"/>
          <p:nvPr/>
        </p:nvSpPr>
        <p:spPr>
          <a:xfrm>
            <a:off x="442543" y="1273883"/>
            <a:ext cx="10938329" cy="4247317"/>
          </a:xfrm>
          <a:prstGeom prst="rect">
            <a:avLst/>
          </a:prstGeom>
          <a:noFill/>
        </p:spPr>
        <p:txBody>
          <a:bodyPr wrap="square">
            <a:spAutoFit/>
          </a:bodyPr>
          <a:lstStyle/>
          <a:p>
            <a:r>
              <a:rPr lang="en-IN" dirty="0"/>
              <a:t>Future improvements may include:</a:t>
            </a:r>
          </a:p>
          <a:p>
            <a:pPr marL="285750" lvl="0" indent="-285750">
              <a:buFont typeface="Arial" panose="020B0604020202020204" pitchFamily="34" charset="0"/>
              <a:buChar char="•"/>
            </a:pPr>
            <a:r>
              <a:rPr lang="en-IN" dirty="0"/>
              <a:t>Adding multilingual transformer models such as </a:t>
            </a:r>
            <a:r>
              <a:rPr lang="en-IN" dirty="0" err="1"/>
              <a:t>mBERT</a:t>
            </a:r>
            <a:r>
              <a:rPr lang="en-IN" dirty="0"/>
              <a:t> or XLM-R.</a:t>
            </a:r>
          </a:p>
          <a:p>
            <a:pPr marL="285750" lvl="0" indent="-285750">
              <a:buFont typeface="Arial" panose="020B0604020202020204" pitchFamily="34" charset="0"/>
              <a:buChar char="•"/>
            </a:pPr>
            <a:r>
              <a:rPr lang="en-IN" dirty="0"/>
              <a:t>Supporting more languages directly.</a:t>
            </a:r>
          </a:p>
          <a:p>
            <a:pPr marL="285750" lvl="0" indent="-285750">
              <a:buFont typeface="Arial" panose="020B0604020202020204" pitchFamily="34" charset="0"/>
              <a:buChar char="•"/>
            </a:pPr>
            <a:r>
              <a:rPr lang="en-IN" dirty="0"/>
              <a:t>Including external fact-checking APIs.</a:t>
            </a:r>
          </a:p>
          <a:p>
            <a:pPr marL="285750" lvl="0" indent="-285750">
              <a:buFont typeface="Arial" panose="020B0604020202020204" pitchFamily="34" charset="0"/>
              <a:buChar char="•"/>
            </a:pPr>
            <a:r>
              <a:rPr lang="en-IN" dirty="0"/>
              <a:t>Adding source credibility analysis.</a:t>
            </a:r>
          </a:p>
          <a:p>
            <a:pPr marL="285750" lvl="0" indent="-285750">
              <a:buFont typeface="Arial" panose="020B0604020202020204" pitchFamily="34" charset="0"/>
              <a:buChar char="•"/>
            </a:pPr>
            <a:r>
              <a:rPr lang="en-IN" dirty="0"/>
              <a:t>Incorporating article metadata, author information, and publication date.</a:t>
            </a:r>
          </a:p>
          <a:p>
            <a:pPr marL="285750" lvl="0" indent="-285750">
              <a:buFont typeface="Arial" panose="020B0604020202020204" pitchFamily="34" charset="0"/>
              <a:buChar char="•"/>
            </a:pPr>
            <a:r>
              <a:rPr lang="en-IN" dirty="0"/>
              <a:t>Detecting misleading images and videos.</a:t>
            </a:r>
          </a:p>
          <a:p>
            <a:pPr marL="285750" lvl="0" indent="-285750">
              <a:buFont typeface="Arial" panose="020B0604020202020204" pitchFamily="34" charset="0"/>
              <a:buChar char="•"/>
            </a:pPr>
            <a:r>
              <a:rPr lang="en-IN" dirty="0"/>
              <a:t>Adding explainable-AI features such as important-word highlighting.</a:t>
            </a:r>
          </a:p>
          <a:p>
            <a:pPr marL="285750" lvl="0" indent="-285750">
              <a:buFont typeface="Arial" panose="020B0604020202020204" pitchFamily="34" charset="0"/>
              <a:buChar char="•"/>
            </a:pPr>
            <a:r>
              <a:rPr lang="en-IN" dirty="0"/>
              <a:t>Providing browser-extension support.</a:t>
            </a:r>
          </a:p>
          <a:p>
            <a:pPr marL="285750" lvl="0" indent="-285750">
              <a:buFont typeface="Arial" panose="020B0604020202020204" pitchFamily="34" charset="0"/>
              <a:buChar char="•"/>
            </a:pPr>
            <a:r>
              <a:rPr lang="en-IN" dirty="0"/>
              <a:t>Adding user authentication and role management.</a:t>
            </a:r>
          </a:p>
          <a:p>
            <a:pPr marL="285750" lvl="0" indent="-285750">
              <a:buFont typeface="Arial" panose="020B0604020202020204" pitchFamily="34" charset="0"/>
              <a:buChar char="•"/>
            </a:pPr>
            <a:r>
              <a:rPr lang="en-IN" dirty="0"/>
              <a:t>Deploying the system on cloud infrastructure.</a:t>
            </a:r>
          </a:p>
          <a:p>
            <a:pPr marL="285750" lvl="0" indent="-285750">
              <a:buFont typeface="Arial" panose="020B0604020202020204" pitchFamily="34" charset="0"/>
              <a:buChar char="•"/>
            </a:pPr>
            <a:r>
              <a:rPr lang="en-IN" dirty="0"/>
              <a:t>Using a database for storing prediction history.</a:t>
            </a:r>
          </a:p>
          <a:p>
            <a:pPr marL="285750" lvl="0" indent="-285750">
              <a:buFont typeface="Arial" panose="020B0604020202020204" pitchFamily="34" charset="0"/>
              <a:buChar char="•"/>
            </a:pPr>
            <a:r>
              <a:rPr lang="en-IN" dirty="0"/>
              <a:t>Implementing continuous model retraining.</a:t>
            </a:r>
          </a:p>
          <a:p>
            <a:pPr marL="285750" lvl="0" indent="-285750">
              <a:buFont typeface="Arial" panose="020B0604020202020204" pitchFamily="34" charset="0"/>
              <a:buChar char="•"/>
            </a:pPr>
            <a:r>
              <a:rPr lang="en-IN" dirty="0"/>
              <a:t>Adding ensemble prediction methods.</a:t>
            </a:r>
          </a:p>
          <a:p>
            <a:pPr marL="285750" lvl="0" indent="-285750">
              <a:buFont typeface="Arial" panose="020B0604020202020204" pitchFamily="34" charset="0"/>
              <a:buChar char="•"/>
            </a:pPr>
            <a:r>
              <a:rPr lang="en-IN" dirty="0"/>
              <a:t>Generating precision, recall, F1-score, ROC-AUC, and confusion matrices automatically.</a:t>
            </a:r>
          </a:p>
        </p:txBody>
      </p:sp>
    </p:spTree>
    <p:extLst>
      <p:ext uri="{BB962C8B-B14F-4D97-AF65-F5344CB8AC3E}">
        <p14:creationId xmlns:p14="http://schemas.microsoft.com/office/powerpoint/2010/main" val="54187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A57AD-A6DD-7C29-7387-46A206979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EF854-F0C6-1DFE-1848-08AF6FBD7742}"/>
              </a:ext>
            </a:extLst>
          </p:cNvPr>
          <p:cNvSpPr>
            <a:spLocks noGrp="1"/>
          </p:cNvSpPr>
          <p:nvPr>
            <p:ph type="title"/>
          </p:nvPr>
        </p:nvSpPr>
        <p:spPr>
          <a:xfrm>
            <a:off x="442543" y="297180"/>
            <a:ext cx="10238238" cy="649877"/>
          </a:xfrm>
        </p:spPr>
        <p:txBody>
          <a:bodyPr/>
          <a:lstStyle/>
          <a:p>
            <a:r>
              <a:rPr lang="en-IN" spc="0" dirty="0"/>
              <a:t>Conclusion</a:t>
            </a:r>
          </a:p>
        </p:txBody>
      </p:sp>
      <p:sp>
        <p:nvSpPr>
          <p:cNvPr id="5" name="Slide Number Placeholder 4">
            <a:extLst>
              <a:ext uri="{FF2B5EF4-FFF2-40B4-BE49-F238E27FC236}">
                <a16:creationId xmlns:a16="http://schemas.microsoft.com/office/drawing/2014/main" id="{C4A10DAC-3DD7-7E51-99F8-0CD3F53D504A}"/>
              </a:ext>
            </a:extLst>
          </p:cNvPr>
          <p:cNvSpPr>
            <a:spLocks noGrp="1"/>
          </p:cNvSpPr>
          <p:nvPr>
            <p:ph type="sldNum" sz="quarter" idx="11"/>
          </p:nvPr>
        </p:nvSpPr>
        <p:spPr/>
        <p:txBody>
          <a:bodyPr/>
          <a:lstStyle/>
          <a:p>
            <a:fld id="{09A01C0A-2BB6-49E7-91A3-DCB9F9F59583}" type="slidenum">
              <a:rPr lang="en-US" smtClean="0"/>
              <a:pPr/>
              <a:t>25</a:t>
            </a:fld>
            <a:endParaRPr lang="en-US" dirty="0"/>
          </a:p>
        </p:txBody>
      </p:sp>
      <p:sp>
        <p:nvSpPr>
          <p:cNvPr id="8" name="TextBox 7">
            <a:extLst>
              <a:ext uri="{FF2B5EF4-FFF2-40B4-BE49-F238E27FC236}">
                <a16:creationId xmlns:a16="http://schemas.microsoft.com/office/drawing/2014/main" id="{1CE9422B-B4A3-4EDB-1540-7C751F62C7E1}"/>
              </a:ext>
            </a:extLst>
          </p:cNvPr>
          <p:cNvSpPr txBox="1"/>
          <p:nvPr/>
        </p:nvSpPr>
        <p:spPr>
          <a:xfrm>
            <a:off x="442543" y="1273883"/>
            <a:ext cx="10938329" cy="3139321"/>
          </a:xfrm>
          <a:prstGeom prst="rect">
            <a:avLst/>
          </a:prstGeom>
          <a:noFill/>
        </p:spPr>
        <p:txBody>
          <a:bodyPr wrap="square">
            <a:spAutoFit/>
          </a:bodyPr>
          <a:lstStyle/>
          <a:p>
            <a:r>
              <a:rPr lang="en-IN" dirty="0"/>
              <a:t>This project developed FakeLens, an automated fake-news detection system using Natural Language Processing and deep learning. The system uses a PolyglotFakeFacts dataset containing real and fake news articles.</a:t>
            </a:r>
          </a:p>
          <a:p>
            <a:r>
              <a:rPr lang="en-IN" dirty="0"/>
              <a:t>A Bi-LSTM model and a BERT model were trained and evaluated. The Bi-LSTM achieved a test accuracy of </a:t>
            </a:r>
            <a:r>
              <a:rPr lang="en-IN" b="1" dirty="0"/>
              <a:t>88.84%</a:t>
            </a:r>
            <a:r>
              <a:rPr lang="en-IN" dirty="0"/>
              <a:t>, while BERT achieved a higher test accuracy of </a:t>
            </a:r>
            <a:r>
              <a:rPr lang="en-IN" b="1" dirty="0"/>
              <a:t>96.23%</a:t>
            </a:r>
            <a:r>
              <a:rPr lang="en-IN" dirty="0"/>
              <a:t>. The results demonstrate that BERT’s bidirectional self-attention mechanism is more effective for understanding contextual relationships in the selected dataset.</a:t>
            </a:r>
          </a:p>
          <a:p>
            <a:r>
              <a:rPr lang="en-IN" dirty="0"/>
              <a:t>The project also integrated the trained models with a FastAPI backend and React frontend, enabling users to submit news text and receive real-time predictions. Overall, the system provides a practical foundation for automated misinformation screening and can be extended with multilingual support, external fact verification, explainability, and cloud deployment.</a:t>
            </a:r>
          </a:p>
        </p:txBody>
      </p:sp>
    </p:spTree>
    <p:extLst>
      <p:ext uri="{BB962C8B-B14F-4D97-AF65-F5344CB8AC3E}">
        <p14:creationId xmlns:p14="http://schemas.microsoft.com/office/powerpoint/2010/main" val="3162669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4F691-5396-46C4-E923-387B5CF87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9F5BC-BE9D-1BC5-5521-4148566A521E}"/>
              </a:ext>
            </a:extLst>
          </p:cNvPr>
          <p:cNvSpPr>
            <a:spLocks noGrp="1"/>
          </p:cNvSpPr>
          <p:nvPr>
            <p:ph type="title"/>
          </p:nvPr>
        </p:nvSpPr>
        <p:spPr>
          <a:xfrm>
            <a:off x="571500" y="182880"/>
            <a:ext cx="10238238" cy="649877"/>
          </a:xfrm>
        </p:spPr>
        <p:txBody>
          <a:bodyPr/>
          <a:lstStyle/>
          <a:p>
            <a:r>
              <a:rPr lang="en-IN" spc="0" dirty="0"/>
              <a:t>Limitations</a:t>
            </a:r>
          </a:p>
        </p:txBody>
      </p:sp>
      <p:sp>
        <p:nvSpPr>
          <p:cNvPr id="5" name="Slide Number Placeholder 4">
            <a:extLst>
              <a:ext uri="{FF2B5EF4-FFF2-40B4-BE49-F238E27FC236}">
                <a16:creationId xmlns:a16="http://schemas.microsoft.com/office/drawing/2014/main" id="{711B9102-3F51-B975-0342-4AD4531ACDF9}"/>
              </a:ext>
            </a:extLst>
          </p:cNvPr>
          <p:cNvSpPr>
            <a:spLocks noGrp="1"/>
          </p:cNvSpPr>
          <p:nvPr>
            <p:ph type="sldNum" sz="quarter" idx="11"/>
          </p:nvPr>
        </p:nvSpPr>
        <p:spPr/>
        <p:txBody>
          <a:bodyPr/>
          <a:lstStyle/>
          <a:p>
            <a:fld id="{09A01C0A-2BB6-49E7-91A3-DCB9F9F59583}" type="slidenum">
              <a:rPr lang="en-US" smtClean="0"/>
              <a:pPr/>
              <a:t>26</a:t>
            </a:fld>
            <a:endParaRPr lang="en-US" dirty="0"/>
          </a:p>
        </p:txBody>
      </p:sp>
      <p:sp>
        <p:nvSpPr>
          <p:cNvPr id="8" name="TextBox 7">
            <a:extLst>
              <a:ext uri="{FF2B5EF4-FFF2-40B4-BE49-F238E27FC236}">
                <a16:creationId xmlns:a16="http://schemas.microsoft.com/office/drawing/2014/main" id="{1F20B086-99A1-3D60-0D55-C6A5F34DD8CB}"/>
              </a:ext>
            </a:extLst>
          </p:cNvPr>
          <p:cNvSpPr txBox="1"/>
          <p:nvPr/>
        </p:nvSpPr>
        <p:spPr>
          <a:xfrm>
            <a:off x="442543" y="1273883"/>
            <a:ext cx="10938329" cy="3139321"/>
          </a:xfrm>
          <a:prstGeom prst="rect">
            <a:avLst/>
          </a:prstGeom>
          <a:noFill/>
        </p:spPr>
        <p:txBody>
          <a:bodyPr wrap="square">
            <a:spAutoFit/>
          </a:bodyPr>
          <a:lstStyle/>
          <a:p>
            <a:r>
              <a:rPr lang="en-IN" dirty="0"/>
              <a:t>The current system has the following limitations:</a:t>
            </a:r>
          </a:p>
          <a:p>
            <a:pPr lvl="0"/>
            <a:r>
              <a:rPr lang="en-IN" dirty="0"/>
              <a:t>It classifies text based on learned linguistic patterns and does not verify facts from external sources.</a:t>
            </a:r>
          </a:p>
          <a:p>
            <a:pPr lvl="0"/>
            <a:r>
              <a:rPr lang="en-IN" dirty="0"/>
              <a:t>It may perform poorly on topics or writing styles not represented in the training data.</a:t>
            </a:r>
          </a:p>
          <a:p>
            <a:pPr lvl="0"/>
            <a:r>
              <a:rPr lang="en-IN" dirty="0"/>
              <a:t>It may not detect satire, sarcasm, opinion, or partially true content accurately.</a:t>
            </a:r>
          </a:p>
          <a:p>
            <a:pPr lvl="0"/>
            <a:r>
              <a:rPr lang="en-IN" dirty="0"/>
              <a:t>The BERT model uses an uncased English tokenizer.</a:t>
            </a:r>
          </a:p>
          <a:p>
            <a:pPr lvl="0"/>
            <a:r>
              <a:rPr lang="en-IN" dirty="0"/>
              <a:t>Long articles are limited to a maximum sequence length of 256 tokens.</a:t>
            </a:r>
          </a:p>
          <a:p>
            <a:pPr lvl="0"/>
            <a:r>
              <a:rPr lang="en-IN" dirty="0"/>
              <a:t>The dataset may contain source-specific patterns.</a:t>
            </a:r>
          </a:p>
          <a:p>
            <a:pPr lvl="0"/>
            <a:r>
              <a:rPr lang="en-IN" dirty="0"/>
              <a:t>Model confidence does not guarantee factual correctness.</a:t>
            </a:r>
          </a:p>
          <a:p>
            <a:pPr lvl="0"/>
            <a:r>
              <a:rPr lang="en-IN" dirty="0"/>
              <a:t>The current system does not include authentication.</a:t>
            </a:r>
          </a:p>
          <a:p>
            <a:pPr lvl="0"/>
            <a:r>
              <a:rPr lang="en-IN" dirty="0"/>
              <a:t>The prototype does not use a production database.</a:t>
            </a:r>
          </a:p>
          <a:p>
            <a:pPr lvl="0"/>
            <a:r>
              <a:rPr lang="en-IN" dirty="0"/>
              <a:t>Precision, recall, and F1-score require additional evaluation output.</a:t>
            </a:r>
          </a:p>
        </p:txBody>
      </p:sp>
    </p:spTree>
    <p:extLst>
      <p:ext uri="{BB962C8B-B14F-4D97-AF65-F5344CB8AC3E}">
        <p14:creationId xmlns:p14="http://schemas.microsoft.com/office/powerpoint/2010/main" val="3090985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A0E3FE2-6B9B-4C9A-84D9-AD118750DE6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modernist presentation</Template>
  <TotalTime>88</TotalTime>
  <Words>1919</Words>
  <Application>Microsoft Office PowerPoint</Application>
  <PresentationFormat>Widescreen</PresentationFormat>
  <Paragraphs>286</Paragraphs>
  <Slides>27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Arial Black</vt:lpstr>
      <vt:lpstr>Avenir Next LT Pro</vt:lpstr>
      <vt:lpstr>Avenir Next LT Pro Light</vt:lpstr>
      <vt:lpstr>Calibri</vt:lpstr>
      <vt:lpstr>Custom</vt:lpstr>
      <vt:lpstr>2520090022    K Sriram 2520090048    Haricharansai</vt:lpstr>
      <vt:lpstr>Introduction</vt:lpstr>
      <vt:lpstr>Problem Statement</vt:lpstr>
      <vt:lpstr>Motivation</vt:lpstr>
      <vt:lpstr>Objective</vt:lpstr>
      <vt:lpstr>Objective</vt:lpstr>
      <vt:lpstr>Proposed System</vt:lpstr>
      <vt:lpstr>System Architecture</vt:lpstr>
      <vt:lpstr>Methodology and Workflow</vt:lpstr>
      <vt:lpstr>Technology Stack</vt:lpstr>
      <vt:lpstr>System Modules</vt:lpstr>
      <vt:lpstr>System Modules</vt:lpstr>
      <vt:lpstr>System Modules</vt:lpstr>
      <vt:lpstr>Implementation</vt:lpstr>
      <vt:lpstr>Implementation</vt:lpstr>
      <vt:lpstr>Dataset and Input Data</vt:lpstr>
      <vt:lpstr>Dataset and Input Data</vt:lpstr>
      <vt:lpstr>Implementation</vt:lpstr>
      <vt:lpstr>results</vt:lpstr>
      <vt:lpstr>Advantages</vt:lpstr>
      <vt:lpstr>Applications</vt:lpstr>
      <vt:lpstr>PowerPoint Presentation</vt:lpstr>
      <vt:lpstr>PowerPoint Presentation</vt:lpstr>
      <vt:lpstr>Future Scope</vt:lpstr>
      <vt:lpstr>Conclusion</vt:lpstr>
      <vt:lpstr>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Injeti Haricharansai</dc:creator>
  <cp:lastModifiedBy>Injeti Haricharansai</cp:lastModifiedBy>
  <cp:revision>1</cp:revision>
  <dcterms:created xsi:type="dcterms:W3CDTF">2026-10-13T16:34:16Z</dcterms:created>
  <dcterms:modified xsi:type="dcterms:W3CDTF">2026-10-14T05:54:00Z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